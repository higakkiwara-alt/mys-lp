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今の会社のルールや売上だけの話ではなく、みんなの将来について話したいと思います。今、生活ができていることは、これまで努力してきた結果です。だから、今の報酬が低いとか、もっと無理して働いてほしいという話ではありません。ただ、今の生活が成立していることと、10年後、20年後も安定していることは、別だと僕は思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一つだけ問いかけさせてください。今、毎月の生活ができていること。それは、10年後、20年後も安定している、という意味でしょうか。責めるための質問ではありません。僕自身も、ずっと自分に問い続けている質問です。この問いを持ったまま、今日の話を聞いてもらえたら嬉し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は今、大きな変化の中にあります。人口は減り続け、物価は上がり、社会保障への不安も語られるようになりました。美容業界も、店舗数の増加や集客方法の変化など、環境が変わり続けています。どれも、明日すぐに生活を壊すものではありません。ただ、変化が続く社会に生きている、という前提は持っておきたいと思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うちの現在地を正直に共有します。アシスタントとスタイリストを含めて、月25万円から40万円前後が中心です。平均すると、月40万円前後に落ち着きます。そして、一番働いているスタッフで月50万円前後。これが、今のリアルな数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数字を、僕は低いとは言いません。毎日の営業、閉店後の練習、お客様への向き合い。今の報酬は、間違いなく、みんなの努力と成長の結果です。だからまず、ここまで来た自分を認めてほしい。ただ同時に、ここが完成形ではなく現在地だということも、一緒に確認したい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一番働いている月50万円の働き方を想像してみてください。今と同じ時間、同じ体力、同じ入客数を、40代、50代になっても続けられるでしょうか。美容師は、身体と時間を使って売上をつくる仕事です。今のペースを20年続ける前提の設計は、どこかで無理が出る可能性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の報酬には、自分では気づきにくい支えが含まれているかもしれません。長時間働ける若さと体力。練習やモデルに使える時間。会社の集客、アシスタントのサポート、店舗のブランド。どれも悪いことではありません。ただ、その支えは永遠ではない。だからこそ、支えがあるうちに、自分の力を育てておきたい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価の話も、避けて通れません。仮に物価が20パーセント上がると、月40万円と同じ生活水準には、単純計算で月48万円が必要になります。しかも、収入が増えれば税金や保険料も増えます。結婚や育児、住宅など、人生の段階で支出も変わります。報酬が同じままなら、実質的な収入は下がっていく可能性がある。これが、物価上昇の現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僕たちの多くは、個人事業主という働き方です。会社員と比べると、有給休暇や傷病手当、退職金、厚生年金といった保障は、弱い場合があります。その代わり、成果が報酬に反映されやすく、働き方を選びやすい。技術と指名で報酬を伸ばし、時間単価を上げ、経営や管理に進むこともできます。保障が少ない働き方だからこそ、報酬と技術と選択肢を、上げ続ける必要がある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誤解しないでほしいのは、身体を壊すまで働いてほしいわけではない、ということです。疲弊することは、正解ではありません。必要なのは、無理ではなく、成長です。今より少しだけ難しいことに、挑戦する。その積み重ねが、5年後、10年後の自分を守ってくれると、僕は思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は、3か月単位で、小さな成長を実感することです。指名数や指名売上が増えた。技術のスピードが上がり、担当できる人数が増えた。客単価、再来率、次回予約率が上がった。後輩に教えられることが増えた。チームを助ける行動が増えた。時間単価や報酬が上がった。どれか一つでいいんです。3か月前の自分より、少しだけ前に進んでいること。それを、一緒に確認していきたいと思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社として目指す基準も、はっきり伝えます。フルタイムで働く人は、最低でも月40万円前後。月50万円以上を、一部の特別な人ではなく、普通に目指せるラインにする。年間報酬600万円を、一つの基準にしたいと考えています。時短で働く人は、月額よりも時間単価を大事にします。そして、管理職になることは、責任が増えるだけではありません。教育や管理という、施術以外の価値で、収入と選択肢を増やすことでも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うえで、税金用の積立とは別に、年間100万円を残せる状態を目指したい。月に直すと、約8万3000円です。単純計算で、10年で1000万円、20年で2000万円になります。投資の利益を含めない、そのままの積み上げです。目的は、老後のためだけではありません。病気やケガ、休業、独立資金、結婚や出産、学び直し。人生の選択肢を増やすためのお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を考えている人も、いると思います。僕は、独立を否定しません。ただ、独立すれば自由になる、収入が増える、楽になる、という単純な話ではありません。物件、内装、借入、家賃、広告、採用、教育、税務。売上が低い月も、固定費は待ってくれません。休みの日にも、集客や数字、スタッフのことを考え続けます。独立は、逃げ道ではなく、経営の道です。今のチームで、数字を見て、人を育てて、利益を残せる人が、独立してもうまくいくと僕は思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婚や出産、時短勤務も、もちろん否定しません。パートナーに生活を支えてもらう選択も、納得しているなら一つの生き方です。ただ、パートナーの会社や健康、関係性が、この先もずっと同じである保証は、誰にもありません。誰かに頼ることと、誰かに依存しなければ生きられないことは、違います。大切な人と対等に支え合うためにも、自分自身で生きていける力を持っていた方がいい。僕は、そう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会社にいれば安心かというと、それも違います。僕自身、コロナ禍を経験しました。予約が突然消えて、管理職として、苦しそうなスタッフの顔を近くで見てきました。感染症、災害、景気、集客媒体の変化。予約と収入は、ある日突然、減る可能性があります。だからこそ、何かが起きてからではなく、今から備えておきたい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しても、結婚しても、会社にいても。どの道にも、絶対の安定はありませんでした。だったら、結論は一つだと思います。自分の人生を、誰かに預けないこと。会社にも、パートナーにも、時代にも預けない。どの道を選んでもやっていける自分をつくること。それが、この会社で言う「自立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うまくいかない時、人や環境のせいにしたくなることがあります。その気持ちは自然なものだし、不満や問題提起が悪いわけでもありません。会社側に、改善すべき点があることもあります。ただ、意識の大半を人の文句に使い続けると、どうなるか。自分の指名も、技術も、報酬も増えないまま、時間だけが過ぎていきます。一番損をするのは、結局、自分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責思考という言葉を、全部自分が悪いと思い込むことだと、誤解しないでください。自分を責め続けることに、価値はありません。僕が伝えたい自責思考とは、こうです。起きた問題の中で、自分が変えられる部分を見つけて、次の行動を選ぶこと。視線を人から自分に戻した瞬間から、成長は始まると思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して、もう一つ大事な話があります。うちは、一人のスターが稼ぐ店ではなく、全員で稼げるチームを目指します。アシスタントが育ち、スタッフ同士が助け合う。そうすれば、受け入れられる予約が増え、待ち時間が減り、お客様の満足度と再来率が上がります。一人はみんなのために。みんなは一人のために。この言葉を、僕は本気で実現したいと思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チームで売上が上がると、店舗に利益が残ります。利益が残るから、広告や採用、教育、設備の修繕に投資ができます。そして、その結果を、スタッフに還元できます。逆に、利益が残らなければ、どんなに想いがあっても還元はできません。全員で稼いで、全員に還す。この循環をつくることが、会社の仕事だ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ルールの話も、しておきます。ルールは、僕の言うことを聞かせるためにあるのではありません。スタッフ間の公平性、お客様への品質、店舗の売上、仲間の報酬、そして会社の信頼を守るためにあります。一人の勝手な判断が、仲間の予約や報酬に影響することがあるからです。目的を説明して、改善の機会を設けても、守る意思が続けて見られない場合。その時は、会社と価値観が合わないと判断することもあります。これは感情ではなく、仲間を守るための線引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僕が一緒に働きたいのは、特別な天才ではありません。現状に満足し続けず、自分の人生を他人任せにせず、仲間の成功にも協力できる人です。短期間で独立する前提の人を集めるより、このチームで長く成長したい人。仲間と一緒に、豊かになりたい人。そういう人と、働きたいと思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伝えたいことがあります。僕は、全員に同じ生き方をしてほしいわけではありません。独立してもいい。結婚してもいい。時短で働いてもいい。管理職を目指してもいい。大切なのは、どの道を選んでも、自分の人生を誰かに預けず、自分で選べる力を持つことです。自分一人で稼ぐ力と、仲間と成果を作る力。その両方を持った美容師を、この会社で育てたいと思っています。一人はみんなのために。みんなは一人のために。日本で一番、自立した美容師が育つ会社を、一緒につくっ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6A45C"/>
                </a:solidFill>
                <a:latin typeface="Noto Sans CJK JP"/>
                <a:ea typeface="Noto Sans CJK JP"/>
              </a:rPr>
              <a:t>O T K     C O M P A N Y     P H I L O S O P H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1460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5F3EE"/>
                </a:solidFill>
                <a:latin typeface="Noto Serif CJK JP"/>
                <a:ea typeface="Noto Serif CJK JP"/>
              </a:rPr>
              <a:t>日本で一番、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5F3EE"/>
                </a:solidFill>
                <a:latin typeface="Noto Serif CJK JP"/>
                <a:ea typeface="Noto Serif CJK JP"/>
              </a:rPr>
              <a:t>自立した美容師が育つ会社へ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0916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C7C1"/>
                </a:solidFill>
                <a:latin typeface="Noto Sans CJK JP"/>
                <a:ea typeface="Noto Sans CJK JP"/>
              </a:rPr>
              <a:t>今の安定を、未来の自由に変える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40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ans CJK JP"/>
                <a:ea typeface="Noto Sans CJK JP"/>
              </a:rP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48840"/>
            <a:ext cx="10362895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300" b="0">
                <a:solidFill>
                  <a:srgbClr val="F5F3EE"/>
                </a:solidFill>
                <a:latin typeface="Noto Serif CJK JP"/>
                <a:ea typeface="Noto Serif CJK JP"/>
              </a:rPr>
              <a:t>今、生活できていることは、</a:t>
            </a:r>
          </a:p>
          <a:p>
            <a:pPr algn="ctr">
              <a:lnSpc>
                <a:spcPct val="135000"/>
              </a:lnSpc>
            </a:pPr>
            <a:r>
              <a:rPr sz="3300" b="0">
                <a:solidFill>
                  <a:srgbClr val="F5F3EE"/>
                </a:solidFill>
                <a:latin typeface="Noto Serif CJK JP"/>
                <a:ea typeface="Noto Serif CJK JP"/>
              </a:rPr>
              <a:t>将来も安定している</a:t>
            </a:r>
          </a:p>
          <a:p>
            <a:pPr algn="ctr">
              <a:lnSpc>
                <a:spcPct val="135000"/>
              </a:lnSpc>
            </a:pPr>
            <a:r>
              <a:rPr sz="3300" b="0">
                <a:solidFill>
                  <a:srgbClr val="F5F3EE"/>
                </a:solidFill>
                <a:latin typeface="Noto Serif CJK JP"/>
                <a:ea typeface="Noto Serif CJK JP"/>
              </a:rPr>
              <a:t>ということだろうか。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Q U E S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02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変化が続く社会に、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僕たちは生きている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63827" y="320040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92427" y="3355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人口減少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2427" y="37673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市場・働き手の構造が変わる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320040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4467" y="3355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物価上昇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4467" y="37673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同じ収入でも実質は目減りする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3827" y="452628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2427" y="46817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社会保障への不安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2427" y="50932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制度は変化することが考えられる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452628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46817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業界・集客の変化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50932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店舗数や媒体は変わり続ける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E8E93"/>
                </a:solidFill>
                <a:latin typeface="Noto Sans CJK JP"/>
                <a:ea typeface="Noto Sans CJK JP"/>
              </a:rPr>
              <a:t>※ どれも「明日すぐ」の話ではなく、変化が続くという前提の話です。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社 会 の 変 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03 /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美容師の収入の現在地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3727" y="283464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6607" y="3246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C6A45C"/>
                </a:solidFill>
                <a:latin typeface="Noto Serif CJK JP"/>
                <a:ea typeface="Noto Serif CJK JP"/>
              </a:rPr>
              <a:t>月25〜40万円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327" y="39319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アシスタント・スタイリストの中心帯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487" y="283464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1367" y="3246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C6A45C"/>
                </a:solidFill>
                <a:latin typeface="Noto Serif CJK JP"/>
                <a:ea typeface="Noto Serif CJK JP"/>
              </a:rPr>
              <a:t>月40万円前後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7087" y="39319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平均が落ち着くライン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3247" y="283464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6127" y="3246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C6A45C"/>
                </a:solidFill>
                <a:latin typeface="Noto Serif CJK JP"/>
                <a:ea typeface="Noto Serif CJK JP"/>
              </a:rPr>
              <a:t>月50万円前後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1847" y="39319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一番働いているスタッフ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E8E93"/>
                </a:solidFill>
                <a:latin typeface="Noto Sans CJK JP"/>
                <a:ea typeface="Noto Sans CJK JP"/>
              </a:rPr>
              <a:t>※ 当社スタッフのおおよその現状(2026年時点の社内目安)。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現 在 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04 /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今の収入は、</a:t>
            </a:r>
          </a:p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努力の結果だ。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86200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否定するつもりは、まったくない。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45312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ただ、ここは完成形ではなく「現在地」。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承 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05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4577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月50万円でも、</a:t>
            </a:r>
          </a:p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同じ働き方を続けられる</a:t>
            </a:r>
          </a:p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とは限らない。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0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今と同じ時間・体力・入客数を、40代、50代まで維持できるだろうか。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86460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美容師は、身体と時間で売上をつくる仕事。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問 題 提 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06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今の報酬を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支えているもの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6607" y="32004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207" y="33558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若さ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207" y="37673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長時間働ける・回復が早い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4207" y="32004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33558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体力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2807" y="37673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入客数を体力で増やせる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1807" y="32004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0407" y="33558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0407" y="37673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練習・モデルに使える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6607" y="45262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207" y="4681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会社の集客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207" y="50932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新規客が流れてくる仕組み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4207" y="45262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2807" y="4681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アシスタント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50932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施術を支えてくれる仲間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807" y="45262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407" y="4681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店舗ブランド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407" y="50932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店の看板が持つ信頼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8076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E8E93"/>
                </a:solidFill>
                <a:latin typeface="Noto Sans CJK JP"/>
                <a:ea typeface="Noto Sans CJK JP"/>
              </a:rPr>
              <a:t>※ どれも悪いことではない。ただ、永遠に続く支えではない可能性がある。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見 え な い 支 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07 /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物価が上がるということ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468880"/>
            <a:ext cx="4389120" cy="210312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249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8E8E93"/>
                </a:solidFill>
                <a:latin typeface="Noto Sans CJK JP"/>
                <a:ea typeface="Noto Sans CJK JP"/>
              </a:rPr>
              <a:t>いま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27248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月40万円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の生活水準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11112" y="2468880"/>
            <a:ext cx="4389120" cy="210312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27249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8E8E93"/>
                </a:solidFill>
                <a:latin typeface="Noto Sans CJK JP"/>
                <a:ea typeface="Noto Sans CJK JP"/>
              </a:rPr>
              <a:t>物価+20%の世界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3127248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>
                <a:solidFill>
                  <a:srgbClr val="C6A45C"/>
                </a:solidFill>
                <a:latin typeface="Noto Serif CJK JP"/>
                <a:ea typeface="Noto Serif CJK JP"/>
              </a:rPr>
              <a:t>月48万円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3977639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が必要(単純計算)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6984" y="324612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C6A45C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E8E93"/>
                </a:solidFill>
                <a:latin typeface="Noto Sans CJK JP"/>
                <a:ea typeface="Noto Sans CJK JP"/>
              </a:rPr>
              <a:t>※ 収入が増えると税金・保険料も増え、結婚・育児・住宅・医療などの支出も変わるため、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E8E93"/>
                </a:solidFill>
                <a:latin typeface="Noto Sans CJK JP"/>
                <a:ea typeface="Noto Sans CJK JP"/>
              </a:rPr>
              <a:t>単純に20%上げれば同じ、とは限りません。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物 価 上 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08 /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個人事業主という現実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148840"/>
            <a:ext cx="4389120" cy="306324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240487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8E8E93"/>
                </a:solidFill>
                <a:latin typeface="Noto Sans CJK JP"/>
                <a:ea typeface="Noto Sans CJK JP"/>
              </a:rPr>
              <a:t>会社員より弱い場合がある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90779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有給休暇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33375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傷病手当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7673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退職金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197096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厚生年金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626864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会社による雇用保障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11112" y="2148840"/>
            <a:ext cx="4389120" cy="306324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240487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6A45C"/>
                </a:solidFill>
                <a:latin typeface="Noto Sans CJK JP"/>
                <a:ea typeface="Noto Sans CJK JP"/>
              </a:rPr>
              <a:t>その代わりに持てる力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90779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A45C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F5F3EE"/>
                </a:solidFill>
                <a:latin typeface="Noto Sans CJK JP"/>
                <a:ea typeface="Noto Sans CJK JP"/>
              </a:rPr>
              <a:t>成果が報酬に反映されやすい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33375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A45C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F5F3EE"/>
                </a:solidFill>
                <a:latin typeface="Noto Sans CJK JP"/>
                <a:ea typeface="Noto Sans CJK JP"/>
              </a:rPr>
              <a:t>働き方を選びやすい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37673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A45C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F5F3EE"/>
                </a:solidFill>
                <a:latin typeface="Noto Sans CJK JP"/>
                <a:ea typeface="Noto Sans CJK JP"/>
              </a:rPr>
              <a:t>技術・指名で報酬を増やせる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4197096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A45C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F5F3EE"/>
                </a:solidFill>
                <a:latin typeface="Noto Sans CJK JP"/>
                <a:ea typeface="Noto Sans CJK JP"/>
              </a:rPr>
              <a:t>時間単価を上げられる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4626864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6A45C"/>
                </a:solidFill>
                <a:latin typeface="Noto Sans CJK JP"/>
                <a:ea typeface="Noto Sans CJK JP"/>
              </a:rPr>
              <a:t>・ </a:t>
            </a:r>
            <a:r>
              <a:rPr sz="1250" b="0">
                <a:solidFill>
                  <a:srgbClr val="F5F3EE"/>
                </a:solidFill>
                <a:latin typeface="Noto Sans CJK JP"/>
                <a:ea typeface="Noto Sans CJK JP"/>
              </a:rPr>
              <a:t>経営・管理へ進める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C6A45C"/>
                </a:solidFill>
                <a:latin typeface="Noto Serif CJK JP"/>
                <a:ea typeface="Noto Serif CJK JP"/>
              </a:rPr>
              <a:t>保障が少ない働き方だからこそ、報酬・技術・選択肢を上げ続ける必要がある。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働 き 方 の 構 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09 /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必要なのは、</a:t>
            </a:r>
          </a:p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無理ではなく成長。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86200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身体を壊すまで働くことは、正解ではない。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45312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「今より少しだけ難しいこと」に挑戦し続ける。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大 切 な 前 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3か月ごとに、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小さな成長を確認する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0947" y="301752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4099" y="3145536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指名数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5547" y="301752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68699" y="3145536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指名売上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301752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3299" y="3145536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技術スピード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24747" y="301752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7899" y="3145536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担当できる人数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0947" y="3785615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4099" y="3913631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できる技術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95547" y="3785615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8699" y="3913631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客単価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785615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3299" y="3913631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再来率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4747" y="3785615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7899" y="3913631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次回予約率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0947" y="4553712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4099" y="4681727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後輩への指導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95547" y="4553712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8699" y="4681727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チームを助ける行動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7" y="4553712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3299" y="4681727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時間単価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24747" y="4553712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97899" y="4681727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報酬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5040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C6A45C"/>
                </a:solidFill>
                <a:latin typeface="Noto Sans CJK JP"/>
                <a:ea typeface="Noto Sans CJK JP"/>
              </a:rPr>
              <a:t>どれか一つでいい。3か月前の自分より、少し前へ。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成 長 の も の さ 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11 / 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54577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F5F3EE"/>
                </a:solidFill>
                <a:latin typeface="Noto Serif CJK JP"/>
                <a:ea typeface="Noto Serif CJK JP"/>
              </a:rPr>
              <a:t>目指す報酬基準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5120640" cy="1170432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6A45C"/>
                </a:solidFill>
                <a:latin typeface="Noto Serif CJK JP"/>
                <a:ea typeface="Noto Serif CJK JP"/>
              </a:rPr>
              <a:t>月40万円前後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6334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フルタイム勤務者の最低ライン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73552"/>
            <a:ext cx="5120640" cy="1170432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45643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6A45C"/>
                </a:solidFill>
                <a:latin typeface="Noto Serif CJK JP"/>
                <a:ea typeface="Noto Serif CJK JP"/>
              </a:rPr>
              <a:t>月50万円以上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9867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特別ではなく「普通に目指せる」ライン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26864"/>
            <a:ext cx="5120640" cy="1170432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80974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6A45C"/>
                </a:solidFill>
                <a:latin typeface="Noto Serif CJK JP"/>
                <a:ea typeface="Noto Serif CJK JP"/>
              </a:rPr>
              <a:t>年間600万円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3400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一つの基準にしたい報酬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E8E93"/>
                </a:solidFill>
                <a:latin typeface="Noto Sans CJK JP"/>
                <a:ea typeface="Noto Sans CJK JP"/>
              </a:rPr>
              <a:t>月額報酬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E8E93"/>
                </a:solidFill>
                <a:latin typeface="Noto Sans CJK JP"/>
                <a:ea typeface="Noto Sans CJK JP"/>
              </a:rPr>
              <a:t>年間報酬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C9C7C1"/>
                </a:solidFill>
                <a:latin typeface="Noto Sans CJK JP"/>
                <a:ea typeface="Noto Sans CJK JP"/>
              </a:rPr>
              <a:t>月25万円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3774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C9C7C1"/>
                </a:solidFill>
                <a:latin typeface="Noto Sans CJK JP"/>
                <a:ea typeface="Noto Sans CJK JP"/>
              </a:rPr>
              <a:t>年間300万円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4495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C9C7C1"/>
                </a:solidFill>
                <a:latin typeface="Noto Sans CJK JP"/>
                <a:ea typeface="Noto Sans CJK JP"/>
              </a:rPr>
              <a:t>月30万円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04495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C9C7C1"/>
                </a:solidFill>
                <a:latin typeface="Noto Sans CJK JP"/>
                <a:ea typeface="Noto Sans CJK JP"/>
              </a:rPr>
              <a:t>年間360万円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12464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C9C7C1"/>
                </a:solidFill>
                <a:latin typeface="Noto Sans CJK JP"/>
                <a:ea typeface="Noto Sans CJK JP"/>
              </a:rPr>
              <a:t>月40万円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712464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C9C7C1"/>
                </a:solidFill>
                <a:latin typeface="Noto Sans CJK JP"/>
                <a:ea typeface="Noto Sans CJK JP"/>
              </a:rPr>
              <a:t>年間480万円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325112"/>
            <a:ext cx="4754880" cy="566928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C6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379976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月50万円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379976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年間600万円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04748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C9C7C1"/>
                </a:solidFill>
                <a:latin typeface="Noto Sans CJK JP"/>
                <a:ea typeface="Noto Sans CJK JP"/>
              </a:rPr>
              <a:t>月60万円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5047488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C9C7C1"/>
                </a:solidFill>
                <a:latin typeface="Noto Sans CJK JP"/>
                <a:ea typeface="Noto Sans CJK JP"/>
              </a:rPr>
              <a:t>年間720万円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3504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E8E93"/>
                </a:solidFill>
                <a:latin typeface="Noto Sans CJK JP"/>
                <a:ea typeface="Noto Sans CJK JP"/>
              </a:rPr>
              <a:t>時短勤務は月額より時間単価を重視。管理職・教育者は施術以外の価値でも報酬を増やせる会社へ。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会 社 が 目 指 す 基 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12 / 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年間100万円を残す意味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C6A45C"/>
                </a:solidFill>
                <a:latin typeface="Noto Serif CJK JP"/>
                <a:ea typeface="Noto Serif CJK JP"/>
              </a:rPr>
              <a:t>月 約8.3万円</a:t>
            </a:r>
            <a:r>
              <a:rPr sz="1500" b="0">
                <a:solidFill>
                  <a:srgbClr val="C9C7C1"/>
                </a:solidFill>
                <a:latin typeface="Noto Sans CJK JP"/>
                <a:ea typeface="Noto Sans CJK JP"/>
              </a:rPr>
              <a:t>  の積立で、年間100万円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3747" y="288036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747" y="304495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3年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747" y="34290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5F3EE"/>
                </a:solidFill>
                <a:latin typeface="Noto Serif CJK JP"/>
                <a:ea typeface="Noto Serif CJK JP"/>
              </a:rPr>
              <a:t>300万円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8307" y="288036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18307" y="304495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5年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8307" y="34290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5F3EE"/>
                </a:solidFill>
                <a:latin typeface="Noto Serif CJK JP"/>
                <a:ea typeface="Noto Serif CJK JP"/>
              </a:rPr>
              <a:t>500万円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2867" y="288036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2867" y="304495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10年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2867" y="34290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5F3EE"/>
                </a:solidFill>
                <a:latin typeface="Noto Serif CJK JP"/>
                <a:ea typeface="Noto Serif CJK JP"/>
              </a:rPr>
              <a:t>1,000万円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7427" y="288036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7427" y="304495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20年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7427" y="34290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5F3EE"/>
                </a:solidFill>
                <a:latin typeface="Noto Serif CJK JP"/>
                <a:ea typeface="Noto Serif CJK JP"/>
              </a:rPr>
              <a:t>2,000万円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1987" y="288036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1987" y="304495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E8E93"/>
                </a:solidFill>
                <a:latin typeface="Noto Sans CJK JP"/>
                <a:ea typeface="Noto Sans CJK JP"/>
              </a:rPr>
              <a:t>30年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1987" y="34290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5F3EE"/>
                </a:solidFill>
                <a:latin typeface="Noto Serif CJK JP"/>
                <a:ea typeface="Noto Serif CJK JP"/>
              </a:rPr>
              <a:t>3,000万円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6A45C"/>
                </a:solidFill>
                <a:latin typeface="Noto Sans CJK JP"/>
                <a:ea typeface="Noto Sans CJK JP"/>
              </a:rPr>
              <a:t>このお金がつくるのは、老後資金だけではなく「選択肢」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54577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病気・ケガ ・ 休業 ・ 独立資金 ・ 結婚 ・ 出産 ・ 引っ越し ・ 家族への支援 ・ 学び直し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E8E93"/>
                </a:solidFill>
                <a:latin typeface="Noto Sans CJK JP"/>
                <a:ea typeface="Noto Sans CJK JP"/>
              </a:rPr>
              <a:t>※ 投資利益を含めない単純計算。税金用の積立とは別に確保する。目的は老後だけでなく「人生の選択肢」。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人 生 の 選 択 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13 /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独立すれば、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自由になるのか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5167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8319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物件取得費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77159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0311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内装費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99151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2303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設備費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1143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4295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借入金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43135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6287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家賃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167" y="3785615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319" y="3913631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広告費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7159" y="3785615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0311" y="3913631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材料費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9151" y="3785615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2303" y="3913631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光熱費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1143" y="3785615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4295" y="3913631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採用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3135" y="3785615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6287" y="3913631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教育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" y="4553712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319" y="4681727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税務・労務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77159" y="4553712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50311" y="4681727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契約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99151" y="4553712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72303" y="4681727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クレーム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1143" y="4553712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94295" y="4681727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修繕費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3135" y="4553712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6287" y="4681727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売上が低い月の固定費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5040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C6A45C"/>
                </a:solidFill>
                <a:latin typeface="Noto Sans CJK JP"/>
                <a:ea typeface="Noto Sans CJK JP"/>
              </a:rPr>
              <a:t>休みの日にも、採用・集客・数字・スタッフの問題を考える。独立は逃げ道ではなく、経営の道。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独 立 と い う 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14 / 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4577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誰かに頼ることと、</a:t>
            </a:r>
          </a:p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依存しなければ生きられない</a:t>
            </a:r>
          </a:p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ことは違う。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0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パートナーの会社・健康・関係性が、ずっと同じである保証は誰にもない。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86460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大切な人と対等に支え合うために、自分で生きていける力を持つ。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結 婚 と い う 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会社にいるだけでは、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安定とは限らない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63827" y="320040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92427" y="3355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感染症・災害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2427" y="37673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予約が突然消えることがある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320040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4467" y="3355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景気・物価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4467" y="37673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客数や単価に影響する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3827" y="452628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2427" y="46817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競合・媒体の変化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2427" y="50932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集客の前提が変わる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452628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46817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A45C"/>
                </a:solidFill>
                <a:latin typeface="Noto Sans CJK JP"/>
                <a:ea typeface="Noto Sans CJK JP"/>
              </a:rPr>
              <a:t>制度の変化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50932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9C7C1"/>
                </a:solidFill>
                <a:latin typeface="Noto Sans CJK JP"/>
                <a:ea typeface="Noto Sans CJK JP"/>
              </a:rPr>
              <a:t>社会の仕組みも変わり得る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E8E93"/>
                </a:solidFill>
                <a:latin typeface="Noto Sans CJK JP"/>
                <a:ea typeface="Noto Sans CJK JP"/>
              </a:rPr>
              <a:t>代表自身がコロナ禍で、予約が消え、苦しむスタッフを間近で見てきた経験から。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会 社 と い う 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16 /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自分の人生を、</a:t>
            </a:r>
          </a:p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誰かに預けない。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86200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独立・結婚・会社所属。どの道にも「絶対の安定」はない。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45312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どの道を選んでもやっていける自分をつくる。それが、この会社で言う自立。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結 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他責思考で</a:t>
            </a:r>
          </a:p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一番損をするのは、自分。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86200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不満や問題提起が悪いわけではない。会社に改善点があることもある。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453128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ただ、人の文句に意識を使い続けると、自分の指名・技術・報酬が増えないまま時間が過ぎる。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思 考 の 向 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>
                <a:solidFill>
                  <a:srgbClr val="F5F3EE"/>
                </a:solidFill>
                <a:latin typeface="Noto Serif CJK JP"/>
                <a:ea typeface="Noto Serif CJK JP"/>
              </a:rPr>
              <a:t>自責思考とは、</a:t>
            </a:r>
          </a:p>
          <a:p>
            <a:pPr algn="ctr">
              <a:lnSpc>
                <a:spcPct val="130000"/>
              </a:lnSpc>
            </a:pPr>
            <a:r>
              <a:rPr sz="3200" b="0">
                <a:solidFill>
                  <a:srgbClr val="F5F3EE"/>
                </a:solidFill>
                <a:latin typeface="Noto Serif CJK JP"/>
                <a:ea typeface="Noto Serif CJK JP"/>
              </a:rPr>
              <a:t>自分を責めることではない。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3611880"/>
            <a:ext cx="8351215" cy="16002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C6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3977639"/>
            <a:ext cx="76196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00" b="0">
                <a:solidFill>
                  <a:srgbClr val="C6A45C"/>
                </a:solidFill>
                <a:latin typeface="Noto Serif CJK JP"/>
                <a:ea typeface="Noto Serif CJK JP"/>
              </a:rPr>
              <a:t>起きた問題の中で、自分が変えられる部分を見つけ、</a:t>
            </a:r>
          </a:p>
          <a:p>
            <a:pPr algn="ctr">
              <a:lnSpc>
                <a:spcPct val="140000"/>
              </a:lnSpc>
            </a:pPr>
            <a:r>
              <a:rPr sz="1900" b="0">
                <a:solidFill>
                  <a:srgbClr val="C6A45C"/>
                </a:solidFill>
                <a:latin typeface="Noto Serif CJK JP"/>
                <a:ea typeface="Noto Serif CJK JP"/>
              </a:rPr>
              <a:t>次の行動を選ぶこと。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定 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一人で稼ぐから、</a:t>
            </a:r>
          </a:p>
          <a:p>
            <a:pPr algn="ctr">
              <a:lnSpc>
                <a:spcPct val="130000"/>
              </a:lnSpc>
            </a:pPr>
            <a:r>
              <a:rPr sz="3400" b="0">
                <a:solidFill>
                  <a:srgbClr val="F5F3EE"/>
                </a:solidFill>
                <a:latin typeface="Noto Serif CJK JP"/>
                <a:ea typeface="Noto Serif CJK JP"/>
              </a:rPr>
              <a:t>チームで稼ぐへ。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886200"/>
            <a:ext cx="96313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50" b="0">
                <a:solidFill>
                  <a:srgbClr val="C9C7C1"/>
                </a:solidFill>
                <a:latin typeface="Noto Sans CJK JP"/>
                <a:ea typeface="Noto Sans CJK JP"/>
              </a:rPr>
              <a:t>協力すれば、受け入れられる予約が増え、待ち時間が減り、満足度と再来率が上がる。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681728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C6A45C"/>
                </a:solidFill>
                <a:latin typeface="Noto Serif CJK JP"/>
                <a:ea typeface="Noto Serif CJK JP"/>
              </a:rPr>
              <a:t>一人はみんなのために。みんなは一人のために。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チ ー 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F5F3EE"/>
                </a:solidFill>
                <a:latin typeface="Noto Serif CJK JP"/>
                <a:ea typeface="Noto Serif CJK JP"/>
              </a:rPr>
              <a:t>利益が残るから、還元できる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3747" y="1965960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0907" y="213055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C6A45C"/>
                </a:solidFill>
                <a:latin typeface="Noto Sans CJK JP"/>
                <a:ea typeface="Noto Sans CJK JP"/>
              </a:rPr>
              <a:t>チームで協力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07" y="2542032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C7C1"/>
                </a:solidFill>
                <a:latin typeface="Noto Sans CJK JP"/>
                <a:ea typeface="Noto Sans CJK JP"/>
              </a:rPr>
              <a:t>育成・助け合い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4227" y="1965960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1387" y="213055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C6A45C"/>
                </a:solidFill>
                <a:latin typeface="Noto Sans CJK JP"/>
                <a:ea typeface="Noto Sans CJK JP"/>
              </a:rPr>
              <a:t>受入予約が増える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1387" y="2542032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C7C1"/>
                </a:solidFill>
                <a:latin typeface="Noto Sans CJK JP"/>
                <a:ea typeface="Noto Sans CJK JP"/>
              </a:rPr>
              <a:t>待ち時間も減る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04707" y="1965960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1867" y="213055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C6A45C"/>
                </a:solidFill>
                <a:latin typeface="Noto Sans CJK JP"/>
                <a:ea typeface="Noto Sans CJK JP"/>
              </a:rPr>
              <a:t>満足度・再来率UP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1867" y="2542032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C7C1"/>
                </a:solidFill>
                <a:latin typeface="Noto Sans CJK JP"/>
                <a:ea typeface="Noto Sans CJK JP"/>
              </a:rPr>
              <a:t>お客様の信頼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04707" y="4206240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1867" y="4370831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C6A45C"/>
                </a:solidFill>
                <a:latin typeface="Noto Sans CJK JP"/>
                <a:ea typeface="Noto Sans CJK JP"/>
              </a:rPr>
              <a:t>店舗売上UP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1867" y="4782312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C7C1"/>
                </a:solidFill>
                <a:latin typeface="Noto Sans CJK JP"/>
                <a:ea typeface="Noto Sans CJK JP"/>
              </a:rPr>
              <a:t>店の力になる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4227" y="4206240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1387" y="4370831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C6A45C"/>
                </a:solidFill>
                <a:latin typeface="Noto Sans CJK JP"/>
                <a:ea typeface="Noto Sans CJK JP"/>
              </a:rPr>
              <a:t>利益が残る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1387" y="4782312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C7C1"/>
                </a:solidFill>
                <a:latin typeface="Noto Sans CJK JP"/>
                <a:ea typeface="Noto Sans CJK JP"/>
              </a:rPr>
              <a:t>広告・採用・教育・修繕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747" y="4206240"/>
            <a:ext cx="3063240" cy="105156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907" y="4370831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C6A45C"/>
                </a:solidFill>
                <a:latin typeface="Noto Sans CJK JP"/>
                <a:ea typeface="Noto Sans CJK JP"/>
              </a:rPr>
              <a:t>投資と還元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907" y="4782312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C7C1"/>
                </a:solidFill>
                <a:latin typeface="Noto Sans CJK JP"/>
                <a:ea typeface="Noto Sans CJK JP"/>
              </a:rPr>
              <a:t>スタッフへ還る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6987" y="228600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C6A45C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7467" y="228600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C6A45C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7727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C6A45C"/>
                </a:solidFill>
                <a:latin typeface="Noto Sans CJK JP"/>
                <a:ea typeface="Noto Sans CJK JP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6987" y="4526279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C6A45C"/>
                </a:solidFill>
                <a:latin typeface="Noto Sans CJK JP"/>
                <a:ea typeface="Noto Sans CJK JP"/>
              </a:rPr>
              <a:t>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7467" y="4526279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C6A45C"/>
                </a:solidFill>
                <a:latin typeface="Noto Sans CJK JP"/>
                <a:ea typeface="Noto Sans CJK JP"/>
              </a:rPr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6767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C6A45C"/>
                </a:solidFill>
                <a:latin typeface="Noto Sans CJK JP"/>
                <a:ea typeface="Noto Sans CJK JP"/>
              </a:rPr>
              <a:t>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6A45C"/>
                </a:solidFill>
                <a:latin typeface="Noto Serif CJK JP"/>
                <a:ea typeface="Noto Serif CJK JP"/>
              </a:rPr>
              <a:t>全員で稼いで、全員に還す。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還 元 の 循 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21 / 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ルールは、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仲間を守るためにある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5167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8319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スタッフ間の公平性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77159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0311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お客様への品質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99151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2303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店舗の売上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1143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4295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仲間の報酬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43135" y="30175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A1A1E"/>
          </a:solidFill>
          <a:ln w="9525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6287" y="3145536"/>
            <a:ext cx="1847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C9C7C1"/>
                </a:solidFill>
                <a:latin typeface="Noto Sans CJK JP"/>
                <a:ea typeface="Noto Sans CJK JP"/>
              </a:rPr>
              <a:t>会社の信頼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5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C6A45C"/>
                </a:solidFill>
                <a:latin typeface="Noto Sans CJK JP"/>
                <a:ea typeface="Noto Sans CJK JP"/>
              </a:rPr>
              <a:t>一人の勝手な判断が、仲間の予約や報酬に影響することがある。目的を説明し、改善の機会を設けても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C6A45C"/>
                </a:solidFill>
                <a:latin typeface="Noto Sans CJK JP"/>
                <a:ea typeface="Noto Sans CJK JP"/>
              </a:rPr>
              <a:t>守る意思が続けて見られない場合は、価値観が合わないと判断することもある。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ル ー ル の 目 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22 /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この会社で</a:t>
            </a:r>
          </a:p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5F3EE"/>
                </a:solidFill>
                <a:latin typeface="Noto Serif CJK JP"/>
                <a:ea typeface="Noto Serif CJK JP"/>
              </a:rPr>
              <a:t>一緒に働きたいのは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8346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6A45C"/>
                </a:solidFill>
                <a:latin typeface="Noto Serif CJK JP"/>
                <a:ea typeface="Noto Serif CJK JP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88036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5F3EE"/>
                </a:solidFill>
                <a:latin typeface="Noto Sans CJK JP"/>
                <a:ea typeface="Noto Sans CJK JP"/>
              </a:rPr>
              <a:t>現状に満足し続けない人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6118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6A45C"/>
                </a:solidFill>
                <a:latin typeface="Noto Serif CJK JP"/>
                <a:ea typeface="Noto Serif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5F3EE"/>
                </a:solidFill>
                <a:latin typeface="Noto Sans CJK JP"/>
                <a:ea typeface="Noto Sans CJK JP"/>
              </a:rPr>
              <a:t>自分の人生を他人任せにしない人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3891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6A45C"/>
                </a:solidFill>
                <a:latin typeface="Noto Serif CJK JP"/>
                <a:ea typeface="Noto Serif CJK JP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43484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F5F3EE"/>
                </a:solidFill>
                <a:latin typeface="Noto Sans CJK JP"/>
                <a:ea typeface="Noto Sans CJK JP"/>
              </a:rPr>
              <a:t>仲間の成功にも協力できる人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E8E93"/>
                </a:solidFill>
                <a:latin typeface="Noto Sans CJK JP"/>
                <a:ea typeface="Noto Sans CJK JP"/>
              </a:rPr>
              <a:t>短期間で独立する前提の人より、このチームで長く成長し、仲間と豊かになりたい人と働きたい。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一 緒 に 働 き た い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23 /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7840"/>
                </a:solidFill>
                <a:latin typeface="Noto Serif CJK JP"/>
                <a:ea typeface="Noto Serif CJK JP"/>
              </a:rPr>
              <a:t>OTK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6A45C"/>
                </a:solidFill>
                <a:latin typeface="Noto Sans CJK JP"/>
                <a:ea typeface="Noto Sans CJK JP"/>
              </a:rPr>
              <a:t>O T K     C O M P A N Y     P H I L O S O P H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999713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2000" b="0">
                <a:solidFill>
                  <a:srgbClr val="C9C7C1"/>
                </a:solidFill>
                <a:latin typeface="Noto Serif CJK JP"/>
                <a:ea typeface="Noto Serif CJK JP"/>
              </a:rPr>
              <a:t>誰かが自分を幸せにしてくれるのを待つのではなく、</a:t>
            </a:r>
          </a:p>
          <a:p>
            <a:pPr algn="ctr">
              <a:lnSpc>
                <a:spcPct val="160000"/>
              </a:lnSpc>
            </a:pPr>
            <a:r>
              <a:rPr sz="2000" b="0">
                <a:solidFill>
                  <a:srgbClr val="C9C7C1"/>
                </a:solidFill>
                <a:latin typeface="Noto Serif CJK JP"/>
                <a:ea typeface="Noto Serif CJK JP"/>
              </a:rPr>
              <a:t>自分で自分の人生を良くし、</a:t>
            </a:r>
          </a:p>
          <a:p>
            <a:pPr algn="ctr">
              <a:lnSpc>
                <a:spcPct val="160000"/>
              </a:lnSpc>
            </a:pPr>
            <a:r>
              <a:rPr sz="2000" b="0">
                <a:solidFill>
                  <a:srgbClr val="C9C7C1"/>
                </a:solidFill>
                <a:latin typeface="Noto Serif CJK JP"/>
                <a:ea typeface="Noto Serif CJK JP"/>
              </a:rPr>
              <a:t>その力で仲間や家族も支えられる人になる。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0">
                <a:solidFill>
                  <a:srgbClr val="F5F3EE"/>
                </a:solidFill>
                <a:latin typeface="Noto Serif CJK JP"/>
                <a:ea typeface="Noto Serif CJK JP"/>
              </a:rPr>
              <a:t>日本で一番、</a:t>
            </a:r>
          </a:p>
          <a:p>
            <a:pPr algn="ctr">
              <a:lnSpc>
                <a:spcPct val="130000"/>
              </a:lnSpc>
            </a:pPr>
            <a:r>
              <a:rPr sz="3600" b="0">
                <a:solidFill>
                  <a:srgbClr val="F5F3EE"/>
                </a:solidFill>
                <a:latin typeface="Noto Serif CJK JP"/>
                <a:ea typeface="Noto Serif CJK JP"/>
              </a:rPr>
              <a:t>自立した美容師が育つ会社へ。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8E93"/>
                </a:solidFill>
                <a:latin typeface="Noto Sans CJK JP"/>
                <a:ea typeface="Noto Sans CJK JP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