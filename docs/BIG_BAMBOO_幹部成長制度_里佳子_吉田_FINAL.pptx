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成長を選んだ5年</c:v>
                </c:pt>
              </c:strCache>
            </c:strRef>
          </c:tx>
          <c:spPr>
            <a:solidFill>
              <a:srgbClr val="FFC72C"/>
            </a:solidFill>
            <a:ln w="38100" cap="flat">
              <a:solidFill>
                <a:srgbClr val="FFC7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C72C"/>
              </a:solidFill>
              <a:ln w="9525" cap="flat">
                <a:solidFill>
                  <a:srgbClr val="FFC7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今</c:v>
                  </c:pt>
                  <c:pt idx="1">
                    <c:v>1年</c:v>
                  </c:pt>
                  <c:pt idx="2">
                    <c:v>2年</c:v>
                  </c:pt>
                  <c:pt idx="3">
                    <c:v>3年</c:v>
                  </c:pt>
                  <c:pt idx="4">
                    <c:v>5年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116</c:v>
                </c:pt>
                <c:pt idx="2">
                  <c:v>133</c:v>
                </c:pt>
                <c:pt idx="3">
                  <c:v>154</c:v>
                </c:pt>
                <c:pt idx="4">
                  <c:v>200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現状維持の5年</c:v>
                </c:pt>
              </c:strCache>
            </c:strRef>
          </c:tx>
          <c:spPr>
            <a:solidFill>
              <a:srgbClr val="6B7FA3"/>
            </a:solidFill>
            <a:ln w="38100" cap="flat">
              <a:solidFill>
                <a:srgbClr val="6B7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6B7FA3"/>
              </a:solidFill>
              <a:ln w="9525" cap="flat">
                <a:solidFill>
                  <a:srgbClr val="6B7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今</c:v>
                  </c:pt>
                  <c:pt idx="1">
                    <c:v>1年</c:v>
                  </c:pt>
                  <c:pt idx="2">
                    <c:v>2年</c:v>
                  </c:pt>
                  <c:pt idx="3">
                    <c:v>3年</c:v>
                  </c:pt>
                  <c:pt idx="4">
                    <c:v>5年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97</c:v>
                </c:pt>
                <c:pt idx="2">
                  <c:v>94</c:v>
                </c:pt>
                <c:pt idx="3">
                  <c:v>91</c:v>
                </c:pt>
                <c:pt idx="4">
                  <c:v>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4A7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A3C4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7D3E6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里佳子、吉田、お疲れさま。大竹です。今日は、二人にどうしても伝えたいことがあって、この動画を作りました。テーマは「幹部成長制度」。そう聞くと堅く感じるかもしれないけど、中身はシンプルです。二人が今どこにいて、次に何を頑張れば、何を任されて、それがどう報酬や人生の選択肢につながっていくのか。その「地図」の話です。評価される怖い話ではなく、未来の話です。20分ちょっと、付き合っ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話の流れは、大きく4つです。まず、いま美容業界の外側で起きている変化。次に、その変化の中でBIG BAMBOOがどう考えているか。自立とか、チームとか、会社の目的の話です。そのうえで、幹部という仕事の定義と、評価と報酬の仕組み。最後に、里佳子と吉田、それぞれの現在地とこれからの話をします。順番に聞いてもらえたら、最後に全部つながるよう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、外側の話から。数字を三つだけ見てください。物価は、この5年でおよそ12パーセント上がりました。同じ生活をするだけで、去年より多くのお金がかかるようになっています。最低賃金は、全国平均で902円から1121円へ。5年で約24パーセントの上昇です。人を雇うコスト、つまりお店を続けるコストは確実に上がっています。そして美容室の数は、全国でおよそ27万4千軒。今も過去最多を更新し続けています。お客様の数が急に増えるわけではないのに、コストは上がり、ライバルは増えている。これが、僕らのお店の外で起きてい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状況で「去年と同じ」は、どういう意味を持つでしょうか。売上も、能力も、選択肢も去年と同じなら、実質的には後退です。下りのエスカレーターを歩いているようなもので、止まっているつもりでも、周りが動いている分、少しずつ下がっていく。ただ、ここで誤解しないでほしいことがあります。これは「一生頑張り続けろ」という話ではありません。むしろ逆です。将来、ずっと全力で頑張り続けなくてもいい状態を作るために、今、少しずつ成長しておこう。今日の話は、全部この考え方がベースにな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状維持で失う一番大きなものは、実はお金ではありません。時間です。3か月、半年、1年、3年、5年。何も変えなかった場合、その間に身につくはずだった技術、売上、指名、マネジメント、育成の経験、仕組みを作る力、人脈、そして人生の選択肢。その全部が、手に入らないままになります。お金は、後からでも取り返せます。でも時間だけは、後から買い戻せません。5年後に「あの時始めていれば」と思うのが、一番もったいない。だから僕は、二人の時間を一番大事にしたいと思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そのうえで、BIG BAMBOOが考える「自立」の話をさせてください。自立と聞くと、「一人で何でもできるようになること」だと思いがちです。でも、僕らの定義は違います。自分で考え、自分で稼ぐ力を持ちながら、仲間や会社や仕組みの力を使って、自分の時間、収入、働き方、人生の選択肢を増やせる状態。これが、うちの考える自立です。全部を一人で背負う必要はありません。むしろ、一人で背負わないことが強さだと、僕は思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、一人で背負わない方がいいのか。理由は単純で、一人の頑張りには限界があるからです。どんなに優秀でも、体はひとつで、1日は24時間しかありません。一人で作れる成果は、どこまでいっても一人分です。でも、チームなら違います。自分の力に、仲間の力と、仕組みの力が掛け算になっていく。だからBIG BAMBOOは、一人で頑張るより、チームで大きな成果を作る道を選びます。これが、このあと話す「幹部」につながっていきます。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、会社としての軸も、あらためて共有させてください。パーパスは、「美容師のための美容室を100年残す」。フィロソフィーは、「人が育ち、会社が育ち、文化が残る」。ビジョンは、「美容師が安心して挑戦し、自立し、人生を豊かにできる社会をつくる」。そしてミッションは、今の時点では「美容師が、一人で背負わなくても自立できる未来をつくる」という方向で考えています。きれいな言葉を並べたいわけではなくて、この軸があるから、評価も報酬も店舗展開も、全部の判断がブレなくなる。今日の話も、全部ここにつなが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なぜ幹部が必要なのか。「美容室を100年残す」って、実はとても難しいことです。僕一人がずっと現場の全部を見て、全部を決めるやり方だと、僕がいなくなった瞬間に終わります。それは100年残る会社ではありません。人が育って、店が増えて、僕がいなくても回る仕組みが残る。そこまでできて、はじめて文化が残ります。だから、この会社には「チームの成果を作れる人」が必要なんです。それが、うちで言う幹部です。そして僕は、その最初の候補が里佳子と吉田だと思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幹部の定義を、はっきりさせておきます。幹部とは、自分が成果を出す人から、「人と仕組みを通して、チームの成果を作る人」へ進んだ人のことです。売上ナンバーワンだから幹部、ではありません。技術が一番上手いから幹部、でもありません。もちろん売上も技術も大事です。でも、幹部として一番大事なのは、自分がいなくても成果が出るチーム、店舗、仕組みを作れること。ここが、プレイヤーとして優秀なことと、幹部であることの、一番大きな違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メージしやすいように、二人のマネージャーを比べてみます。Aさんは、自分一人で250万円を売ります。プレイヤーとしてはすごい数字です。でも、周りのスタッフは育っていない。Aさんが休んだら、お店の数字は大きく落ちます。Bさんは、自分の売上は100万円。でもスタッフを育てて、店舗全体で600万円を作っています。BIG BAMBOOが幹部として評価したいのは、Bさんです。「自分がどれだけ働いたか」から、「自分を通して、チームの成果がどれだけ増えたか」へ。この物差しの切り替えが、幹部への第一歩です。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、評価の話です。幹部への成長を、8つの軸で見ていきます。1つ目、プロフェッショナル。2つ目、セルフマネジメント。3つ目、実行力。4つ目、問題解決。5つ目、チームワーク。6つ目、リーダーシップ。7つ目、人材育成。8つ目、マネジメント。難しく見えるかもしれませんが、構造はシンプルです。社会人としての土台から始まって、自分の仕事、チームへの関わり、そして人を育てて店を経営する力へと、順番に積み上がっていく。この8つを、これから二人と一緒に見ていく物差し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半の4つを、少しだけ詳しく話します。まず、プロフェッショナル。言葉遣い、態度、礼節、時間、約束を守ること。技術よりも前にある、信頼の土台です。次に、セルフマネジメント。自己管理、感情のコントロール、報連相、そして仕事の安定感。気分の波で仕事の質が変わらないことです。3つ目が、実行力。任された仕事を、抜け漏れなく、最後まで完了させる力。同じ質で繰り返せる再現性も含みます。4つ目が、問題解決。問題に気づいて、原因を整理して、提案して、改善までつなげる力です。この4つは、役職に関係なく、社会人全員に求められる土台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半の4つは、チームと経営の軸です。5つ目、チームワーク。周りを見て、困っている人を助けて、自分の成果だけでなくチームの成果を考えられること。6つ目、リーダーシップ。方向を示して、人を動かして、意見をまとめて、決めるべき時に決められること。7つ目、人材育成。教えて、仕事を渡して、自分の後任を作れる力。これは後でまた出てきますが、幹部として一番大事な力のひとつです。8つ目が、マネジメント。売上、利益、人材、店舗を、数字で見て、会社の視点で判断できること。この4つが伸びるほど、任せられる範囲が広がっ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つの軸は、それぞれ5段階で見ます。レベル1は、教えてもらいながらできる段階。レベル2は、自分の仕事として自分で完了できる。レベル3は、状況が変わっても、安定して同じ質でできる。レベル4は、人に教えて、他のスタッフにも再現させられる。そしてレベル5は、仕組みにできる。つまり、自分がいなくても回る状態を作れる、ということです。ここで大事なポイントをひとつ。レベル4からが、幹部の入口です。自分ができるかどうかではなく、人に再現させられるかどうか。ここから、見える景色が変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に、はっきり言っておきたいことがあります。この評価制度は、人を落とすためのものではありません。点数をつけて、序列を作って、誰かを責めるための道具でもない。目的は、三つだけです。一つ、今の現在地を知ること。二つ、次に伸ばす能力を決めること。三つ、次に任せる仕事を決めること。評価が上がるほど、任せられる仕事が増えて、できることが増えていく。つまりこれは、査定の道具ではなくて、成長の地図です。二人には、そういうものとして受け取ってほし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そして、ここが今日いちばん大事なところのひとつです。能力が上がると、任せられる仕事が増える。仕事が増えると、責任の範囲が広がる。責任が広がると、作れる成果が大きくなる。そして、成果が大きくなった分、報酬が上がる。能力、仕事、責任、成果、報酬。この順番で、ちゃんとつながる仕組みを作ります。頑張って能力を上げた人が、ちゃんと報われる。その順番を、会社として約束したい。だから二人には、安心して成長に時間を使ってほしい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報酬について、もう少し具体的に話します。世の中でよくある失敗は、「責任だけ増えて、給料が変わらない管理職」です。うちは、それはやりません。例えば、今スタイリストとして月50万円くらい稼いでいる人に管理の仕事を任せるとき、入客を減らしたせいで収入が大きく下がる。そういう設計にはしません。考え方としては、これまでの収入を一定程度担保したうえで、管理手当と、店舗の業績に応じた成果報酬を乗せていく形を検討しています。正直に言うと、金額や料率はまだ確定していません。決まった段階で、必ず先に二人に共有します。ただ、方向性は約束します。能力と責任と店舗成果に応じて、報酬が上がる仕組みを作る。これが会社の方針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、里佳子の話です。8つの軸で、今の大竹の見立てを正直に置くと、総合でだいたい2.7くらいです。先に伝えたいのは、これはダメ出しではない、ということ。現場経験があって、すでに店舗の管理業務を実際に担ってくれていて、スタッフとの関係も作れている。チームワークや店舗運営のところは、もうレベル3以上の力があります。土台は間違いなくある。そのうえで、どこを伸ばせば次のステージに行けるのかを、この地図で一緒に見ていきたい。なお、この数字は仮の見立てなので、このあとの面談で、里佳子自身の実感とすり合わせながら決め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里佳子の強みは、はっきりしています。まず、現場をよく知っていること。そして、すでに店舗管理の仕事を任されて、実際に回せていること。さらに、周りのスタッフと関係性を作れていて、コミュニケーションが取れること。この3つは、幹部候補として大きな武器です。そのうえで、次に伸ばしてほしいことは4つ。1つ目は、言葉遣いや態度、自己管理といった、プロフェッショナルの土台。細かいことに見えて、幹部になるほど効いてくる部分です。2つ目は、仕事を整理して、まとめる力。3つ目は、自分目線ではなく、会社目線で考えること。4つ目は、後輩を育てて、自分の仕事を人に渡す力。どれも、今の里佳子なら十分に伸ばせるものだと思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里佳子の次のテーマを、ひとことで言います。「自分が店舗を回す」から、「自分がいなくても回る店舗を作る」へ。今の里佳子は、自分が動いてお店を回せる人です。それは本当に価値がある。ただ、次のステージは、自分が抜けても回る状態を作ることです。そして、そのための一番大きな仕事が、吉田を育てること。これを、里佳子の重要評価項目にします。自分の仕事を吉田に渡して、吉田ができるようになった分だけ、里佳子はもっと上の仕事に進める。仕事を渡すことは、自分の居場所を失うことじゃなくて、自分が上に進むための階段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、吉田の話です。吉田はまだ経験が浅くて、技術も、スタイリストとしての売上も、これからです。それは、まったく問題ありません。今の時点で僕が評価しているのは、別のところです。言葉遣いと礼節。周りのスタッフへの接し方。真面目さと素直さ。仕事に向かう姿勢。さっきの8軸で言うと、一番土台の部分、プロフェッショナルとセルフマネジメントのところです。ここがしっかりしている人は、必ず伸びます。だから僕は、吉田を、将来の管理、マネジメントの候補として期待しています。今できることの多さではなく、これからの伸びに期待している、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吉田には、1年のロードマップを用意しました。最初の3か月は、店舗業務の基本です。在庫管理、レジ締め、発注、日次報告。まずはお店の日常を、正確に、抜け漏れなく回せるようになること。3か月から6か月は、一歩広げます。シフトの補助、クレームの一次対応、スタッフのフォロー、そして店舗の課題に気づいて、報告と改善提案をすること。6か月から12か月では、里佳子が今やっている管理業務を、里佳子と並行しながら習得していきます。店舗管理、スタッフ管理、日次・週次・月次の報告、問題対応、店舗改善。一気にやる必要はありません。この順番で、一段ずつ行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吉田の1年の目標は、はっきりしています。里佳子がいない日でも、店舗運営を一定レベルで完結できること。これができたら、幹部候補として大きな前進です。美容師としての売上は、100万、120万、150万というステップを、目安として持っておいてください。ただ、ここはすごく大事なので、はっきり言います。吉田の幹部候補としての最重要評価は、売上だけではなく、管理能力です。売上が先に伸びなくても、管理を任せられる範囲が広がっていれば、それは確実に評価します。売上と管理、両方を焦って追いかけるのではなく、順番に積み上げていき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、里佳子と吉田の関係について、大事なことを言っておきます。二人は、競争ではありません。比べて、どちらが上か決めたいわけでもない。理想の形はこうです。里佳子が、今持っている仕事を吉田に教える。吉田が、それを自分でできるようになる。吉田が店舗管理を引き継いだ分、里佳子は、さらに上の仕事へ進む。つまり、仕事を渡すことで、両方が上に進む構造です。どちらかが勝って、どちらかが負ける話ではなくて、二人で一緒に、お店を強くしていく話です。それから、役職は固定ではありません。本人の能力と、希望と、成果によって、将来の役割は変わっ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人が成長した先の、お店の理想の姿も共有しておきます。将来的には、バックオフィス以外の店舗業務は、店舗側でほぼ完結する状態を目指します。店舗側は、スタッフ管理、教育、店舗売上、予約管理、在庫、発注、シフト、クレームの一次対応、店舗改善、日次・週次・月次の管理。ここまでを店舗で完結する。本部側は、経理、財務、税務、AIやシステム、経営戦略、全社のマーケティング支援を担当します。そして僕は、毎日現場の細かい判断に入るのではなく、週次・月次の報告を見て、重要な判断をする役割になります。これができるようになったら、次の店舗を出せます。二人の成長が、そのまま店舗展開につながる。そういう設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逆に、幹部として避けてほしい行動も、正直に伝えておきます。陰で不満だけ言う。人によって態度を変える。言葉遣いや礼節を軽く見る。感情で判断する。報告しない。うまくいかないことを部下のせいにする。数字を見ない。問題だけ持ってきて、提案がない。一人で抱え込む。同じミスを繰り返す。決め事を自己判断で変える。そして、もうひとつ大事なことがあります。「自分にしかできない仕事」を増やすことは、幹部としては高評価ではありません。一見かっこよく聞こえるけど、それは仕組み化の反対側、属人化です。誰でもできる形にして、人に渡せる人を、僕は評価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近づいてきました。先に言っておくと、全員が幹部になる必要はありません。それぞれの人生があって、それぞれの幸せの形があっていい。それは本心です。ただ、会社のパーパスやミッション、ビジョン、バリューを理解して、人を育てたい、チームを良くしたい、美容業界を少しでも良くしたい。そう思ってくれる人には、僕は、仕事も、権限も、経験も、報酬も、チャンスも、どんどん渡していきたい。頑張れる人の人生の選択肢が、増えていく会社にしたい。里佳子と吉田は、その最初の二人だと思っ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僕が作りたいのは、単に売上の高い美容室ではありません。本当の意味で、美容師のための美容室です。ここで働くみんなには、幸せになってほしい。頑張る人には、ちゃんと結果を出してほしい。そして、ここで経験したことで人生の選択肢が増えて、いつか「この会社に来てよかった」と思ってもらえたら、それが一番うれしい。人が育ち、会社が育ち、文化が残る。この言葉のとおりの会社を、里佳子と、吉田と、一緒に作っていきたいと思っています。長い時間、ありがとう。この続きは、面談で直接話しましょ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0" y="233172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幹部成長制度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里佳子・吉田へ ― 現在地と、これからの話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45836" y="4709160"/>
            <a:ext cx="1097280" cy="0"/>
          </a:xfrm>
          <a:prstGeom prst="line">
            <a:avLst/>
          </a:prstGeom>
          <a:noFill/>
          <a:ln w="1905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社内限定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この動画で話すこと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いま起きている変化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物価・人件費・競争。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お店の外側で進んでいること。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7472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0332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70332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会社の考え方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3320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自立とは何か。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なぜチームで成果を作るのか。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30936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53796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幹部という仕事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定義・評価8軸×5段階・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報酬とのつながり。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144000" y="19202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72600" y="21945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937260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二人のこれから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372600" y="3886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里佳子と吉田の現在地、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1年後、その先の選択肢。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|  いま起きている変化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社会と美容業界は、静かに変わり続けている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物価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約+12%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消費者物価指数（総合）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2020年→2025年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4315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出典：総務省 消費者物価指数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343400" y="18288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1772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約+24%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4617720" y="3520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最低賃金（全国加重平均）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902円 → 1,121円（この5年）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17720" y="4315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出典：厚生労働省 地域別最低賃金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046720" y="18288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競争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1040" y="2606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約27.4万軒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321040" y="35204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全国の美容室数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過去最多を更新中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321040" y="4315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出典：厚生労働省 衛生行政報告例（令和5年度）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40080" y="51663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お客様は急に増えない。でも、</a:t>
            </a:r>
            <a:pPr algn="ct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コストと競争は増えている。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|  いま起きている変化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現状維持は、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実質的な衰退。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売上・能力・選択肢が「去年と同じ」なら、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上がり続ける物価・人件費・競争の中では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少しずつ下がっているのと同じ。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029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3294B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17550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ゴールは「一生頑張り続ける」ことではなく、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将来、頑張り続けなくてもいい状態を今つくること。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20840" y="2103120"/>
            <a:ext cx="877824" cy="3703320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53528" y="2670048"/>
            <a:ext cx="877824" cy="3136392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86216" y="3236976"/>
            <a:ext cx="877824" cy="2569464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18904" y="3803904"/>
            <a:ext cx="877824" cy="2002536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451592" y="4370832"/>
            <a:ext cx="877824" cy="1435608"/>
          </a:xfrm>
          <a:prstGeom prst="rect">
            <a:avLst/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13448" y="1389888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976872" y="1700784"/>
            <a:ext cx="347472" cy="38404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896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去年と同じ自分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60920" y="1965960"/>
            <a:ext cx="3749040" cy="2331720"/>
          </a:xfrm>
          <a:prstGeom prst="line">
            <a:avLst/>
          </a:prstGeom>
          <a:noFill/>
          <a:ln w="38100">
            <a:solidFill>
              <a:srgbClr val="FFC72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366760" y="123444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3763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12344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物価 ↑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18320" y="123444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3763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18320" y="12344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 ↑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469880" y="123444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B3763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69880" y="12344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競争 ↑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20840" y="5989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止まって見えるだけで、実は下がっている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|  いま起きている変化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最大の損失は、お金ではなく「時間」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83080"/>
          <a:ext cx="5852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897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5年間の「差」はここに生まれる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8580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その時間で、本当は積み上がっていたもの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858000" y="22860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235440" y="22860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354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0" y="2852928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0" y="2852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9235440" y="2852928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235440" y="2852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マネジメント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858000" y="341985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0" y="34198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育成経験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235440" y="341985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235440" y="34198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経営の視点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858000" y="398678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0" y="3986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9235440" y="398678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9235440" y="39867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人脈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858000" y="4553712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58000" y="4553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資産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9235440" y="4553712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235440" y="4553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85800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お金は取り返せる。</a:t>
            </a:r>
            <a:pPr indent="0" marL="0">
              <a:buNone/>
            </a:pPr>
            <a:r>
              <a:rPr lang="en-US" sz="17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時間は買い戻せない。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|  BIG BAMBOOの考え方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「自立」の定義を、そろえておきたい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60120" y="2788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よくある誤解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32461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自立 ＝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一人で何でもできること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0120" y="4709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全部ひとりで背負う働き方は、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強いようで、実は選択肢を狭くする。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182880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1031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309360" y="2788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BAMBOOの定義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09360" y="324612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自分で考え、自分で稼ぐ力を持ちながら、
</a:t>
            </a:r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仲間・会社・仕組みを使い、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時間・収入・働き方・人生の選択肢を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増やせる状態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0936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一人で背負わないことは、弱さではなく戦略。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|  BIG BAMBOOの考え方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一人の限界を、チームで超える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一人で頑張る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057400" y="4206240"/>
            <a:ext cx="1371600" cy="155448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9" name="Text 6"/>
          <p:cNvSpPr/>
          <p:nvPr/>
        </p:nvSpPr>
        <p:spPr>
          <a:xfrm>
            <a:off x="2057400" y="44348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1人分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943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体はひとつ・1日は24時間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どこかで必ず頭打ちになる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4920" y="40233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7512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チームで作る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89520" y="2468880"/>
            <a:ext cx="2926080" cy="329184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5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チームの成果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×何倍にも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55080" y="2468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468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自分の力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55080" y="3611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3611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仲間の力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4754880"/>
            <a:ext cx="1143000" cy="914400"/>
          </a:xfrm>
          <a:prstGeom prst="roundRect">
            <a:avLst>
              <a:gd name="adj" fmla="val 8000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75488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仕組みの力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75120" y="5943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掛け算で成果が大きくなる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|  BIG BAMBOOの考え方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BAMBOOの軸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PURPOSE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4720" y="1783080"/>
            <a:ext cx="7315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美容師のための美容室を、100年残す。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916936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916936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PHILOSOPHY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2916936"/>
            <a:ext cx="7315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人が育ち、会社が育ち、文化が残る。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0080" y="4050792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405079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VISION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4050792"/>
            <a:ext cx="7315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美容師が安心して挑戦し、自立し、人生を豊かにできる社会をつくる。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0080" y="5184648"/>
            <a:ext cx="10908792" cy="1024128"/>
          </a:xfrm>
          <a:prstGeom prst="roundRect">
            <a:avLst>
              <a:gd name="adj" fmla="val 7143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5184648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MISSION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74720" y="5184648"/>
            <a:ext cx="7315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美容師が、一人で背負わなくても自立できる未来をつくる。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857232" y="5522976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A1E3C"/>
          </a:solidFill>
          <a:ln w="6350">
            <a:solidFill>
              <a:srgbClr val="6B7FA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57232" y="55229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仮案・要最終承認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|  BIG BAMBOOの考え方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「100年残す」から逆算すると、幹部が必要になる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11680" y="17830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7830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目指すこと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60520" y="17830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美容師のための美容室を、100年残す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897880" y="2665476"/>
            <a:ext cx="457200" cy="265176"/>
          </a:xfrm>
          <a:prstGeom prst="downArrow">
            <a:avLst/>
          </a:prstGeom>
          <a:solidFill>
            <a:srgbClr val="6B7FA3"/>
          </a:solidFill>
          <a:ln/>
        </p:spPr>
      </p:sp>
      <p:sp>
        <p:nvSpPr>
          <p:cNvPr id="11" name="Shape 8"/>
          <p:cNvSpPr/>
          <p:nvPr/>
        </p:nvSpPr>
        <p:spPr>
          <a:xfrm>
            <a:off x="2011680" y="2944368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31720" y="2944368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60520" y="294436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一人のカリスマ・一つの店舗だけでは、100年は残らない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897880" y="3826764"/>
            <a:ext cx="457200" cy="265176"/>
          </a:xfrm>
          <a:prstGeom prst="downArrow">
            <a:avLst/>
          </a:prstGeom>
          <a:solidFill>
            <a:srgbClr val="6B7FA3"/>
          </a:solidFill>
          <a:ln/>
        </p:spPr>
      </p:sp>
      <p:sp>
        <p:nvSpPr>
          <p:cNvPr id="15" name="Shape 12"/>
          <p:cNvSpPr/>
          <p:nvPr/>
        </p:nvSpPr>
        <p:spPr>
          <a:xfrm>
            <a:off x="2011680" y="410565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31720" y="410565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必要なこと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60520" y="4105656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人が育ち、店が増え、誰かがいなくても回る仕組みが残ること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897880" y="4988052"/>
            <a:ext cx="457200" cy="265176"/>
          </a:xfrm>
          <a:prstGeom prst="downArrow">
            <a:avLst/>
          </a:prstGeom>
          <a:solidFill>
            <a:srgbClr val="6B7FA3"/>
          </a:solidFill>
          <a:ln/>
        </p:spPr>
      </p:sp>
      <p:sp>
        <p:nvSpPr>
          <p:cNvPr id="19" name="Shape 16"/>
          <p:cNvSpPr/>
          <p:nvPr/>
        </p:nvSpPr>
        <p:spPr>
          <a:xfrm>
            <a:off x="2011680" y="5266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31720" y="526694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160520" y="526694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チームの成果を作れる人 ＝ 幹部 が必要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幹部とは、何をする人か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92024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9202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自分が成果を出す人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2514600"/>
            <a:ext cx="1005840" cy="54864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9202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9202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人と仕組みを通して</a:t>
            </a:r>
            <a:endParaRPr lang="en-US" sz="1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チームの成果を作る人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4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 No.1 だから幹部、ではない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4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技術が一番上手いから幹部、でもない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53492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5349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いちばん大事なのは、</a:t>
            </a:r>
            <a:pPr algn="ctr" indent="0" marL="0">
              <a:buNone/>
            </a:pPr>
            <a:r>
              <a:rPr lang="en-US" sz="17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「自分がいなくても成果が出る状態」を作れること。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どちらを「幹部」として評価するか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5029200" cy="3749040"/>
          </a:xfrm>
          <a:prstGeom prst="roundRect">
            <a:avLst>
              <a:gd name="adj" fmla="val 195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45920" y="19933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自分一人で 250万円 売る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280160" y="3017520"/>
            <a:ext cx="1188720" cy="2103120"/>
          </a:xfrm>
          <a:prstGeom prst="rect">
            <a:avLst/>
          </a:prstGeom>
          <a:solidFill>
            <a:srgbClr val="6B7FA3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36118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250万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880360" y="32004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スタッフは育たない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自分が休むと数字が落ちる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店の未来が自分に依存する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1737360"/>
            <a:ext cx="5303520" cy="3749040"/>
          </a:xfrm>
          <a:prstGeom prst="roundRect">
            <a:avLst>
              <a:gd name="adj" fmla="val 1951"/>
            </a:avLst>
          </a:prstGeom>
          <a:solidFill>
            <a:srgbClr val="1B3763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22376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自分は100万円、店舗全体で 600万円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20840" y="3268980"/>
            <a:ext cx="1188720" cy="19431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7" name="Shape 14"/>
          <p:cNvSpPr/>
          <p:nvPr/>
        </p:nvSpPr>
        <p:spPr>
          <a:xfrm>
            <a:off x="6720840" y="2880360"/>
            <a:ext cx="1188720" cy="3886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001000" y="2898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 100万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010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 500万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418320" y="32004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スタッフが育つ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休んでも数字が出る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店の未来が広がる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8064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「自分がどれだけ働いたか」から、</a:t>
            </a:r>
            <a:pPr algn="ctr" indent="0" marL="0">
              <a:buNone/>
            </a:pPr>
            <a:r>
              <a:rPr lang="en-US" sz="16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「自分を通して、チームの成果がどれだけ増えたか」へ。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評価の8軸 ― 幹部への成長を測る物差し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1248" y="25786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Professional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30175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礼節・言葉遣い・約束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9856" y="182880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21024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21024" y="25786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Self Management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621024" y="30175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自己管理・感情・報連相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99632" y="182880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400800" y="25786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Execution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00800" y="30175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最後までやり切る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979408" y="182880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80576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180576" y="257860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Solving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180576" y="301752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問題を見つけ、解決する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393192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" y="40965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41248" y="468172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Teamwork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41248" y="5120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周りを見て、助ける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419856" y="393192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21024" y="40965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3621024" y="468172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Leadership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3621024" y="5120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方向を示し、人を動かす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99632" y="393192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0" y="40965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2400" dirty="0"/>
          </a:p>
        </p:txBody>
      </p:sp>
      <p:sp>
        <p:nvSpPr>
          <p:cNvPr id="33" name="Text 30"/>
          <p:cNvSpPr/>
          <p:nvPr/>
        </p:nvSpPr>
        <p:spPr>
          <a:xfrm>
            <a:off x="6400800" y="468172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Development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400800" y="5120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人を育て、仕事を渡す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979408" y="393192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80576" y="40965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9180576" y="468172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Management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9180576" y="51206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数字と店舗を経営視点で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土台（1〜4） → チームと経営（5〜8）へ積み上がる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8軸の中身 ― 土台の4つ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Professional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4963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言葉遣い ／ 態度 ／ 礼節 ／ 時間 ／ 約束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技術より前にある、信頼の土台。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Self Management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24963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自己管理 ／ 感情管理 ／ 報連相 ／ 安定性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3108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気分の波で、仕事の質を変えない。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224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Execution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4736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最後まで完了 ／ 抜け漏れ防止 ／ 再現性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5349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任された仕事を、確実にやり切る。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4224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Problem Solving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4736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問題発見 ／ 原因整理 ／ 提案 ／ 改善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5349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気づいて、整理して、提案できる。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8軸の中身 ― チームと経営の4つ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 Teamwork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4963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周囲を見る ／ 助ける ／ 協調 ／ チーム成果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自分の成果だけで終わらない。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984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 Leadership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24963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方向を示す ／ 人を動かす ／ まとめる ／ 判断する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31089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決めるべき時に、決められる。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224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 Development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4400" y="4736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育てる ／ 教える ／ 仕事を渡す ／ 後任を作る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5349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幹部として最重要の力のひとつ。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42245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 Management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4736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 ／ 利益 ／ 人材 ／ 店舗 ／ 数字 ／ 会社視点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5349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店を「経営」として見られる。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どの軸も、5段階で成長していく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46177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7457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LEVEL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" y="50749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教えてもらう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2852928" y="4050792"/>
            <a:ext cx="2121408" cy="1481328"/>
          </a:xfrm>
          <a:prstGeom prst="roundRect">
            <a:avLst>
              <a:gd name="adj" fmla="val 4938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417880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LEVEL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17520" y="450799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自分でできる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017520" y="4919472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自分の仕事として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完了できる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65776" y="3483864"/>
            <a:ext cx="2121408" cy="2048256"/>
          </a:xfrm>
          <a:prstGeom prst="roundRect">
            <a:avLst>
              <a:gd name="adj" fmla="val 357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0368" y="36118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LEVEL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30368" y="3941064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安定してできる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230368" y="4352544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状況が変わっても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再現できる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78624" y="2916936"/>
            <a:ext cx="2121408" cy="2615184"/>
          </a:xfrm>
          <a:prstGeom prst="roundRect">
            <a:avLst>
              <a:gd name="adj" fmla="val 3448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43216" y="304495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LEVEL 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443216" y="3374136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人に教えられる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443216" y="3785616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他のスタッフにも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再現させられる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491472" y="2350008"/>
            <a:ext cx="2121408" cy="3182112"/>
          </a:xfrm>
          <a:prstGeom prst="roundRect">
            <a:avLst>
              <a:gd name="adj" fmla="val 3448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56064" y="247802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LEVEL 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656064" y="280720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仕組みにできる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656064" y="321868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自分がいなくても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回る状態を作れる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" y="5641848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まだ一人では完結できない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232904" y="1600200"/>
            <a:ext cx="0" cy="3931920"/>
          </a:xfrm>
          <a:prstGeom prst="line">
            <a:avLst/>
          </a:prstGeom>
          <a:noFill/>
          <a:ln w="12700">
            <a:solidFill>
              <a:srgbClr val="FFC72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LEVEL 4 からが「幹部の入口」 ― 自分ができる、から、人に再現させられる、へ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評価は「落とすため」ではなく「次を決めるため」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評価制度が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749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人を落とす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序列を作る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責めるために使う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5166360"/>
            <a:ext cx="2423160" cy="384048"/>
          </a:xfrm>
          <a:prstGeom prst="chevron">
            <a:avLst/>
          </a:prstGeom>
          <a:solidFill>
            <a:srgbClr val="1B3763"/>
          </a:solidFill>
          <a:ln w="12700">
            <a:solidFill>
              <a:srgbClr val="1B37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228600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36008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636008" y="306324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現在地を知る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636008" y="388620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8軸×5段階で、今の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自分の位置が分かる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95160" y="5166360"/>
            <a:ext cx="2423160" cy="384048"/>
          </a:xfrm>
          <a:prstGeom prst="chevron">
            <a:avLst/>
          </a:prstGeom>
          <a:solidFill>
            <a:srgbClr val="1B3763"/>
          </a:solidFill>
          <a:ln w="12700">
            <a:solidFill>
              <a:srgbClr val="1B376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95160" y="228600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96328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196328" y="306324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伸ばす能力を決める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196328" y="388620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次の期間で集中して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磨く力を1〜2個選ぶ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555480" y="5166360"/>
            <a:ext cx="2423160" cy="384048"/>
          </a:xfrm>
          <a:prstGeom prst="chevron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55480" y="2286000"/>
            <a:ext cx="2423160" cy="2743200"/>
          </a:xfrm>
          <a:prstGeom prst="roundRect">
            <a:avLst>
              <a:gd name="adj" fmla="val 3019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56648" y="24688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756648" y="3063240"/>
            <a:ext cx="2020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任せる仕事を決める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756648" y="3886200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レベルに応じて、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新しい仕事と権限を渡す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434840" y="5806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査定の道具ではなく、成長の地図。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頑張りが、報酬につながる順番を作る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286000" cy="2103120"/>
          </a:xfrm>
          <a:prstGeom prst="chevron">
            <a:avLst/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能力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8軸×5段階で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力を伸ばす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79776" y="2377440"/>
            <a:ext cx="2286000" cy="2103120"/>
          </a:xfrm>
          <a:prstGeom prst="chevron">
            <a:avLst/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63824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任される仕事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3163824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レベルに応じて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仕事が増える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10912" y="2377440"/>
            <a:ext cx="2286000" cy="2103120"/>
          </a:xfrm>
          <a:prstGeom prst="chevron">
            <a:avLst/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責任範囲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394960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見る範囲・決める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範囲が広がる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42048" y="2377440"/>
            <a:ext cx="2286000" cy="2103120"/>
          </a:xfrm>
          <a:prstGeom prst="chevron">
            <a:avLst/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6096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6096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チームで作る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成果が大きくなる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473184" y="2377440"/>
            <a:ext cx="2286000" cy="2103120"/>
          </a:xfrm>
          <a:prstGeom prst="chevron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57232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857232" y="3474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成果に応じて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報酬が上がる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50292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順番が大事 ― 先に能力と責任、その先に必ず報酬がついてくる設計にする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頑張った分だけ、できること・任されること・報酬・選択肢が増えていく。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|  幹部という仕事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報酬設計の考え方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「責任だけ増えて、給料が変わらない管理職」にはしない。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42316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743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これまでの収入を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一定程度 担保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37947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管理業務で入客が減っても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収入が大きく下がらない設計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78224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72000" y="242316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2743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管理手当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00600" y="37947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店舗管理という仕事に対して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手当を上乗せ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72984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8366760" y="242316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0" y="2743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店舗業績に応じた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成果報酬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95360" y="379476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チームで作った成果が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自分の報酬に返ってくる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16636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0A1E3C"/>
          </a:solidFill>
          <a:ln w="9525">
            <a:solidFill>
              <a:srgbClr val="6B7FA3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1005840" y="5303520"/>
            <a:ext cx="10177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金額・料率は検討中（仮案・要最終承認）。確定した制度ではありません。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方向性の約束：能力・責任・店舗成果に応じて報酬が上がる仕組みを作る。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|  里佳子のこれから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里佳子の現在地マップ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837944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9" name="Shape 6"/>
          <p:cNvSpPr/>
          <p:nvPr/>
        </p:nvSpPr>
        <p:spPr>
          <a:xfrm>
            <a:off x="3246120" y="1837944"/>
            <a:ext cx="1865376" cy="274320"/>
          </a:xfrm>
          <a:prstGeom prst="roundRect">
            <a:avLst>
              <a:gd name="adj" fmla="val 16667"/>
            </a:avLst>
          </a:prstGeom>
          <a:solidFill>
            <a:srgbClr val="6B7FA3"/>
          </a:solidFill>
          <a:ln/>
        </p:spPr>
      </p:sp>
      <p:sp>
        <p:nvSpPr>
          <p:cNvPr id="10" name="Text 7"/>
          <p:cNvSpPr/>
          <p:nvPr/>
        </p:nvSpPr>
        <p:spPr>
          <a:xfrm>
            <a:off x="8019288" y="1783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22951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Self Management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2350008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13" name="Shape 10"/>
          <p:cNvSpPr/>
          <p:nvPr/>
        </p:nvSpPr>
        <p:spPr>
          <a:xfrm>
            <a:off x="3246120" y="2350008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6B7FA3"/>
          </a:solidFill>
          <a:ln/>
        </p:spPr>
      </p:sp>
      <p:sp>
        <p:nvSpPr>
          <p:cNvPr id="14" name="Text 11"/>
          <p:cNvSpPr/>
          <p:nvPr/>
        </p:nvSpPr>
        <p:spPr>
          <a:xfrm>
            <a:off x="8019288" y="22951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2.5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2807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2862072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17" name="Shape 14"/>
          <p:cNvSpPr/>
          <p:nvPr/>
        </p:nvSpPr>
        <p:spPr>
          <a:xfrm>
            <a:off x="3246120" y="2862072"/>
            <a:ext cx="2798064" cy="274320"/>
          </a:xfrm>
          <a:prstGeom prst="roundRect">
            <a:avLst>
              <a:gd name="adj" fmla="val 16667"/>
            </a:avLst>
          </a:prstGeom>
          <a:solidFill>
            <a:srgbClr val="FFC72C"/>
          </a:solidFill>
          <a:ln/>
        </p:spPr>
      </p:sp>
      <p:sp>
        <p:nvSpPr>
          <p:cNvPr id="18" name="Text 15"/>
          <p:cNvSpPr/>
          <p:nvPr/>
        </p:nvSpPr>
        <p:spPr>
          <a:xfrm>
            <a:off x="8019288" y="28072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" y="3319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3374136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21" name="Shape 18"/>
          <p:cNvSpPr/>
          <p:nvPr/>
        </p:nvSpPr>
        <p:spPr>
          <a:xfrm>
            <a:off x="3246120" y="3374136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6B7FA3"/>
          </a:solidFill>
          <a:ln/>
        </p:spPr>
      </p:sp>
      <p:sp>
        <p:nvSpPr>
          <p:cNvPr id="22" name="Text 19"/>
          <p:cNvSpPr/>
          <p:nvPr/>
        </p:nvSpPr>
        <p:spPr>
          <a:xfrm>
            <a:off x="8019288" y="3319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2.5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0080" y="38313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Teamwork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46120" y="3886200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25" name="Shape 22"/>
          <p:cNvSpPr/>
          <p:nvPr/>
        </p:nvSpPr>
        <p:spPr>
          <a:xfrm>
            <a:off x="3246120" y="3886200"/>
            <a:ext cx="3264408" cy="274320"/>
          </a:xfrm>
          <a:prstGeom prst="roundRect">
            <a:avLst>
              <a:gd name="adj" fmla="val 16667"/>
            </a:avLst>
          </a:prstGeom>
          <a:solidFill>
            <a:srgbClr val="FFC72C"/>
          </a:solidFill>
          <a:ln/>
        </p:spPr>
      </p:sp>
      <p:sp>
        <p:nvSpPr>
          <p:cNvPr id="26" name="Text 23"/>
          <p:cNvSpPr/>
          <p:nvPr/>
        </p:nvSpPr>
        <p:spPr>
          <a:xfrm>
            <a:off x="8019288" y="38313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0080" y="43434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46120" y="4398264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29" name="Shape 26"/>
          <p:cNvSpPr/>
          <p:nvPr/>
        </p:nvSpPr>
        <p:spPr>
          <a:xfrm>
            <a:off x="3246120" y="4398264"/>
            <a:ext cx="2331720" cy="274320"/>
          </a:xfrm>
          <a:prstGeom prst="roundRect">
            <a:avLst>
              <a:gd name="adj" fmla="val 16667"/>
            </a:avLst>
          </a:prstGeom>
          <a:solidFill>
            <a:srgbClr val="6B7FA3"/>
          </a:solidFill>
          <a:ln/>
        </p:spPr>
      </p:sp>
      <p:sp>
        <p:nvSpPr>
          <p:cNvPr id="30" name="Text 27"/>
          <p:cNvSpPr/>
          <p:nvPr/>
        </p:nvSpPr>
        <p:spPr>
          <a:xfrm>
            <a:off x="8019288" y="43434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2.5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40080" y="48554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246120" y="4910328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33" name="Shape 30"/>
          <p:cNvSpPr/>
          <p:nvPr/>
        </p:nvSpPr>
        <p:spPr>
          <a:xfrm>
            <a:off x="3246120" y="4910328"/>
            <a:ext cx="1865376" cy="274320"/>
          </a:xfrm>
          <a:prstGeom prst="roundRect">
            <a:avLst>
              <a:gd name="adj" fmla="val 16667"/>
            </a:avLst>
          </a:prstGeom>
          <a:solidFill>
            <a:srgbClr val="6B7FA3"/>
          </a:solidFill>
          <a:ln/>
        </p:spPr>
      </p:sp>
      <p:sp>
        <p:nvSpPr>
          <p:cNvPr id="34" name="Text 31"/>
          <p:cNvSpPr/>
          <p:nvPr/>
        </p:nvSpPr>
        <p:spPr>
          <a:xfrm>
            <a:off x="8019288" y="48554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2.0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40080" y="5367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246120" y="5422392"/>
            <a:ext cx="4663440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37" name="Shape 34"/>
          <p:cNvSpPr/>
          <p:nvPr/>
        </p:nvSpPr>
        <p:spPr>
          <a:xfrm>
            <a:off x="3246120" y="5422392"/>
            <a:ext cx="3264408" cy="274320"/>
          </a:xfrm>
          <a:prstGeom prst="roundRect">
            <a:avLst>
              <a:gd name="adj" fmla="val 16667"/>
            </a:avLst>
          </a:prstGeom>
          <a:solidFill>
            <a:srgbClr val="FFC72C"/>
          </a:solidFill>
          <a:ln/>
        </p:spPr>
      </p:sp>
      <p:sp>
        <p:nvSpPr>
          <p:cNvPr id="38" name="Text 35"/>
          <p:cNvSpPr/>
          <p:nvPr/>
        </p:nvSpPr>
        <p:spPr>
          <a:xfrm>
            <a:off x="8019288" y="53675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3246120" y="59253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LEVEL 1        2        3        4        5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595360" y="178308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1B3763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9536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総合（大竹の見立て）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8595360" y="2423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2.7</a:t>
            </a:r>
            <a:pPr algn="ctr" indent="0" marL="0">
              <a:buNone/>
            </a:pPr>
            <a:r>
              <a:rPr lang="en-US" sz="18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5</a:t>
            </a:r>
            <a:endParaRPr lang="en-US" sz="4400" dirty="0"/>
          </a:p>
        </p:txBody>
      </p:sp>
      <p:sp>
        <p:nvSpPr>
          <p:cNvPr id="43" name="Text 40"/>
          <p:cNvSpPr/>
          <p:nvPr/>
        </p:nvSpPr>
        <p:spPr>
          <a:xfrm>
            <a:off x="8595360" y="3566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仮評価。面談で本人の実感と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すり合わせて確定します。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595360" y="475488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823960" y="4983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黄色 ＝ すでに強みの軸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グレー ＝ 次に伸ばす軸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|  里佳子のこれから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里佳子の強みと、次の成長ポイント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いまの強み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現場経験がある ― お店のリアルを知っている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店舗管理業務を、すでに実際に担っている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スタッフと関係性を作れている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60120" y="4937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周囲とのコミュニケーションが取れる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72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次に伸ばすポイント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9224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プロフェッショナルの土台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784848" y="2953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言葉遣い・態度・自己管理。幹部になるほど効いてくる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429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仕事を整理してまとめる力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84848" y="3776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抜け漏れなく、優先順位をつけて完了させる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9224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会社目線で考える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784848" y="4599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自分のお店から、会社全体の視点へ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育てて、渡す力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784848" y="5422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後輩育成と、自分の仕事を人に渡すこと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「ダメ出し」ではなく、次のステージへの伸びしろ。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|  里佳子のこれから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里佳子の次のテーマ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286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自分が店舗を回す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806440" y="2286000"/>
            <a:ext cx="777240" cy="54864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1" name="Shape 8"/>
          <p:cNvSpPr/>
          <p:nvPr/>
        </p:nvSpPr>
        <p:spPr>
          <a:xfrm>
            <a:off x="6720840" y="1783080"/>
            <a:ext cx="4800600" cy="1554480"/>
          </a:xfrm>
          <a:prstGeom prst="roundRect">
            <a:avLst>
              <a:gd name="adj" fmla="val 4706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951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次のステージ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95160" y="22860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自分がいなくても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回る店舗を作る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3794760"/>
            <a:ext cx="10908792" cy="2148840"/>
          </a:xfrm>
          <a:prstGeom prst="roundRect">
            <a:avLst>
              <a:gd name="adj" fmla="val 3404"/>
            </a:avLst>
          </a:prstGeom>
          <a:solidFill>
            <a:srgbClr val="1B3763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重要評価項目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434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吉田を育てられるか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005840" y="5212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自分の仕事を渡して、吉田が「自分でできる」状態を作る。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渡せた分だけ、里佳子はさらに上位の仕事へ進む。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49640" y="44348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仕事を渡すこと ＝ 上に進む階段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|  吉田のこれから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吉田の現在地 ― いま評価していること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911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28600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言葉遣い・礼節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土台がすでにできている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1911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11880" y="228600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周囲への接し方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611880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スタッフとの関係を丁寧に作れる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81344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2512" y="1911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82512" y="228600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真面目さ・素直さ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382512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吸収が速く、変な癖がない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951976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53144" y="191109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53144" y="228600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仕事への姿勢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153144" y="26974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任されたことに真剣に向き合う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3703320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37033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いまの能力より、</a:t>
            </a:r>
            <a:pPr algn="ct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「将来の管理・マネジメント候補」として期待している。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40080" y="46177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8軸でいちばん大事な「土台」がすでにあるから。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553212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技術と売上はこれから。焦らなくていい。1年かけて、次のページの順番で行けばいい。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|  吉田のこれから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吉田の12か月ロードマップ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93852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0〜3か月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35915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店舗業務の基本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96112" y="283464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在庫管理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96112" y="323697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レジ締め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96112" y="363931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96112" y="40416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日次報告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96112" y="444398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基本的な店舗業務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050792" y="3182112"/>
            <a:ext cx="329184" cy="402336"/>
          </a:xfrm>
          <a:prstGeom prst="rightArrow">
            <a:avLst/>
          </a:prstGeom>
          <a:solidFill>
            <a:srgbClr val="6B7FA3"/>
          </a:solidFill>
          <a:ln/>
        </p:spPr>
      </p:sp>
      <p:sp>
        <p:nvSpPr>
          <p:cNvPr id="16" name="Shape 13"/>
          <p:cNvSpPr/>
          <p:nvPr/>
        </p:nvSpPr>
        <p:spPr>
          <a:xfrm>
            <a:off x="4389120" y="17373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193852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3〜6か月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45152" y="235915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店舗を支える側へ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645152" y="283464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シフト補助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645152" y="323697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クレーム一次対応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645152" y="363931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スタッフフォロー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645152" y="40416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店舗課題の報告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645152" y="444398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改善提案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799832" y="3182112"/>
            <a:ext cx="329184" cy="402336"/>
          </a:xfrm>
          <a:prstGeom prst="rightArrow">
            <a:avLst/>
          </a:prstGeom>
          <a:solidFill>
            <a:srgbClr val="6B7FA3"/>
          </a:solidFill>
          <a:ln/>
        </p:spPr>
      </p:sp>
      <p:sp>
        <p:nvSpPr>
          <p:cNvPr id="25" name="Shape 22"/>
          <p:cNvSpPr/>
          <p:nvPr/>
        </p:nvSpPr>
        <p:spPr>
          <a:xfrm>
            <a:off x="8138160" y="17373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94192" y="193852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6〜12か月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94192" y="235915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管理業務を並行習得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394192" y="283464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店舗管理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394192" y="3236976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スタッフ管理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394192" y="3639312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日次・週次・月次報告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394192" y="40416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問題対応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394192" y="444398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pPr indent="0" marL="0">
              <a:buNone/>
            </a:pPr>
            <a:r>
              <a:rPr lang="en-US" sz="11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店舗改善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40080" y="530352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0A1E3C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530352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1年後の目標：</a:t>
            </a:r>
            <a:pPr algn="ctr"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里佳子がいない日でも、店舗運営を一定レベルで完結できる。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|  吉田のこれから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吉田の評価 ― 何をいちばん見るか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6035040" cy="4023360"/>
          </a:xfrm>
          <a:prstGeom prst="roundRect">
            <a:avLst>
              <a:gd name="adj" fmla="val 1818"/>
            </a:avLst>
          </a:prstGeom>
          <a:solidFill>
            <a:srgbClr val="1B3763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最重要評価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5146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管理能力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960120" y="3520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buNone/>
            </a:pPr>
            <a:r>
              <a:rPr lang="en-US" sz="13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店舗業務を正確に回せるか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40233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buNone/>
            </a:pPr>
            <a:r>
              <a:rPr lang="en-US" sz="13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スタッフを見て、フォローできるか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526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buNone/>
            </a:pPr>
            <a:r>
              <a:rPr lang="en-US" sz="13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報告・提案が自分からできるか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5029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 </a:t>
            </a:r>
            <a:pPr indent="0" marL="0">
              <a:buNone/>
            </a:pPr>
            <a:r>
              <a:rPr lang="en-US" sz="13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里佳子の仕事を引き継げるか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86600" y="1828800"/>
            <a:ext cx="4434840" cy="4023360"/>
          </a:xfrm>
          <a:prstGeom prst="roundRect">
            <a:avLst>
              <a:gd name="adj" fmla="val 1818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参考目安（美容師としての売上）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60920" y="47548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0A1E3C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5240" y="4754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  </a:t>
            </a:r>
            <a:pPr indent="0" marL="0">
              <a:buNone/>
            </a:pPr>
            <a:r>
              <a:rPr lang="en-US" sz="1400" b="1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月100万円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72400" y="388620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0A1E3C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3886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  </a:t>
            </a:r>
            <a:pPr indent="0" marL="0">
              <a:buNone/>
            </a:pPr>
            <a:r>
              <a:rPr lang="en-US" sz="1400" b="1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月120万円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83880" y="301752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0A1E3C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3017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  </a:t>
            </a:r>
            <a:pPr indent="0" marL="0">
              <a:buNone/>
            </a:pPr>
            <a:r>
              <a:rPr lang="en-US" sz="1400" b="1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月150万円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360920" y="5559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あくまで目安。順番に。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61264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売上だけでは測らない。管理を任せられるようになった分を、確実に評価する。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|  二人のこれから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仕事を渡すことで、両方が上に進む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233172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" y="288036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いま持っている仕事を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吉田に教える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154680" y="2880360"/>
            <a:ext cx="310896" cy="36576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1" name="Shape 8"/>
          <p:cNvSpPr/>
          <p:nvPr/>
        </p:nvSpPr>
        <p:spPr>
          <a:xfrm>
            <a:off x="3447288" y="21031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66744" y="233172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吉田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66744" y="288036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学んで、自分で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できる状態になる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961888" y="2880360"/>
            <a:ext cx="310896" cy="36576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5" name="Shape 12"/>
          <p:cNvSpPr/>
          <p:nvPr/>
        </p:nvSpPr>
        <p:spPr>
          <a:xfrm>
            <a:off x="6254496" y="21031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3952" y="233172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吉田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73952" y="288036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店舗管理業務を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引き継ぐ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769096" y="2880360"/>
            <a:ext cx="310896" cy="36576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9" name="Shape 16"/>
          <p:cNvSpPr/>
          <p:nvPr/>
        </p:nvSpPr>
        <p:spPr>
          <a:xfrm>
            <a:off x="9061704" y="21031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2331720"/>
            <a:ext cx="207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里佳子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81160" y="288036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さらに上位の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仕事へ進む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457200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5720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競争させたいのではない。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 二人で店を強くする。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0080" y="5669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役職は固定ではない ― 能力・希望・成果によって、将来の役割は変わっていく。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|  二人のこれから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理想の店舗運営 ― 店舗で完結し、展開へ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店舗側で完結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スタッフ管理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78608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78608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教育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42816" y="23774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42816" y="2377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店舗売上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14400" y="299923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予約管理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78608" y="299923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78608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42816" y="299923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14400" y="362102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62102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578608" y="362102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78608" y="362102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クレーム一次対応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242816" y="362102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62102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店舗改善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14400" y="424281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42428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日次管理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578608" y="424281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78608" y="42428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週次報告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242816" y="424281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2428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月次報告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355080" y="169164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9400" y="1874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本部側が支える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629400" y="237744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2940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経理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025128" y="237744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25128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629400" y="2999232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29400" y="29992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税務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9025128" y="2999232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25128" y="29992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AI・システム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629400" y="3621024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29400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経営戦略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9025128" y="3621024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025128" y="362102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バックオフィス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629400" y="4242816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629400" y="42428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全社マーケ支援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9025128" y="4242816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A1E3C"/>
          </a:solidFill>
          <a:ln w="6350">
            <a:solidFill>
              <a:srgbClr val="2E4A7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25128" y="42428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出店準備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77240" y="5257800"/>
            <a:ext cx="3611880" cy="868680"/>
          </a:xfrm>
          <a:prstGeom prst="chevron">
            <a:avLst/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28016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店舗が自走する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4526280" y="5257800"/>
            <a:ext cx="3611880" cy="868680"/>
          </a:xfrm>
          <a:prstGeom prst="chevron">
            <a:avLst/>
          </a:prstGeom>
          <a:solidFill>
            <a:srgbClr val="1B3763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02920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大竹は週次・月次で重要判断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8275320" y="5257800"/>
            <a:ext cx="3611880" cy="868680"/>
          </a:xfrm>
          <a:prstGeom prst="chevron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77824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E3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次の店舗を出せる</a:t>
            </a:r>
            <a:endParaRPr lang="en-US" sz="1350" dirty="0"/>
          </a:p>
        </p:txBody>
      </p:sp>
      <p:sp>
        <p:nvSpPr>
          <p:cNvPr id="57" name="Text 54"/>
          <p:cNvSpPr/>
          <p:nvPr/>
        </p:nvSpPr>
        <p:spPr>
          <a:xfrm>
            <a:off x="8531352" y="6263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二人の成長 → 店舗展開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|  大事にしたい基準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幹部として避けたい行動（レッドフラッグ）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陰で不満だけ言う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人によって態度を変える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16916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言葉遣い・礼節を軽視する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49631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4963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感情で判断する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249631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4963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報告しない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249631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24963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部下のせいにする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300984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33009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数字を見ない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43400" y="3300984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33009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問題だけ持ってきて提案しない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046720" y="3300984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33009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一人で抱え込む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" y="4105656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41056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同じミスを繰り返す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43400" y="4105656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41056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決め事を自己判断で変える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046720" y="4105656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3294B"/>
          </a:solidFill>
          <a:ln w="9525">
            <a:solidFill>
              <a:srgbClr val="2E4A7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75320" y="410565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 </a:t>
            </a:r>
            <a:pPr indent="0" marL="0">
              <a:buNone/>
            </a:pPr>
            <a:r>
              <a:rPr lang="en-US" sz="12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属人化させる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5074920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1B3763"/>
          </a:solidFill>
          <a:ln w="15875">
            <a:solidFill>
              <a:srgbClr val="FFC72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07492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「自分にしかできない仕事」を増やすことは、幹部としては高評価ではない。
</a:t>
            </a:r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誰でもできる形にして、人に渡せる人を評価する。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|  大事にしたい基準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全員が幹部になる必要はない。でも――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人を育てたい。チームを良くしたい。美容業界を少しでも良くしたい。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そう思う人に、大竹は渡していきたい。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22376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3763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916936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3763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16936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111496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3763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11496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306056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3763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06056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500616" y="301752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B3763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0616" y="3017520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チャンス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40080" y="50292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頑張れる人の</a:t>
            </a:r>
            <a:pPr algn="ctr" indent="0" marL="0">
              <a:buNone/>
            </a:pPr>
            <a:r>
              <a:rPr lang="en-US" sz="22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「人生の選択肢」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が増える会社にする。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" y="58064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ここでの経験が、キャリアと人生の可能性を広げていく。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8CA3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人が育ち、会社が育ち、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3375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C7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文化が残る。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470916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3E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「この会社に来てよかった」と思える場所を、一緒に作ろう。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77272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BIG BAMBOO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2026-08-14T07:34:43Z</dcterms:created>
  <dcterms:modified xsi:type="dcterms:W3CDTF">2026-08-14T07:34:43Z</dcterms:modified>
</cp:coreProperties>
</file>